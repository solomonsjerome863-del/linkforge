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LinkForge product demo. LinkForge is an AI-powered SEO tool that helps website owners improve their internal linking structure. It crawls your site automatically, discovers orphan pages that have zero internal links, and generates smart, contextual link suggestions with optimized anchor text. This demo will walk you through how the tool works, from adding your site to getting actionable link recommendations. Let's dive in and see how LinkForge can help boost your search rankings by fixing one of the most overlooked SEO problems — orphan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problem LinkForge solves. Studies show that nearly half — 47 percent — of pages on a typical website have zero internal links pointing to them. These are called orphan pages, and they're a massive, often invisible SEO problem. When a page has no internal links, Google's crawler may never discover it, meaning it won't appear in search results at all. Even for pages that are found, without internal links, there's no page authority flowing to them — each page is essentially competing on its own. And fixing this manually? It's incredibly tedious. You have to read through pages, figure out which ones should link to each other, write the anchor text, and then update the content. It doesn't scale beyond a handful of pages. That's exactly why we built LinkForge.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LinkForge actually work? It comes down to three simple steps. Step one: you add your website URL. That's it — no plugins to install, no API keys to configure. LinkForge is platform agnostic and works with WordPress, Shopify, Webflow, Ghost, or any custom-built site. Step two: our engine goes to work. It starts by reading your sitemap.xml to discover every URL on your site, then it actually crawls and reads the content of each page. We use AI to analyze the semantic relationships between all your pages — understanding topics, context, and which pages are topically related. Step three: you get smart link suggestions. The AI generates internal link recommendations with optimal anchor text that reads naturally, plus a relevance score so you can prioritize, and surrounding context so you know exactly where each link fits. It's really that straightforward.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makes LinkForge's crawling fundamentally different from other SEO tools. First, we do real web crawling — not just sitemap parsing. LinkForge actually fetches and reads every page on your site, analyzes the content, headings, and structure. It starts with your sitemap.xml to discover every URL, then crawls each one individually. No APIs, no plugins, no CMS integrations — you just give us your URL and we handle the rest.
 This means it works with absolutely any platform: WordPress, Shopify, Webflow, Ghost, or any custom-built site. We're completely platform agnostic.
 Under the hood, we crawl up to three pages concurrently, so even large sites with hundreds of URLs get processed quickly. And through our auto-discovery engine, we automatically find all your pages through sitemap analysis and homepage link scanning — you don't need to manually enter URLs. Just drop in your domain and let LinkForge do the heavy lifting.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what makes LinkForge so powerful — our AI-powered link suggestion engine. We use advanced large language model technology to analyze the actual content on every page of your site, understand the semantic relationships, and then generate internal link suggestions that feel completely natural.
 Let me walk you through what a suggestion looks like. On the left, you can see a real example: LinkForge suggests linking from "Complete Guide to On-Page SEO" to "Internal Linking Best Practices" using the anchor text "internal linking strategy." Notice how the anchor text is contextual — it's not keyword-stuffed, it reads like something a human editor would write.
 Every suggestion comes with a relevance score — in this case 92%, shown in green — based on TF-overlap analysis. You can quickly see which suggestions are strongest and which need review. And for efficiency, you can approve all suggestions at once, export everything to CSV or JSON, or review each one individually. The choice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powerful features in LinkForge is the interactive link network graph. Instead of scrolling through spreadsheets, you can see your entire site's internal link structure visualized as a force-directed graph — and it's fully interactive.
 The color coding makes it immediately actionable. Orange nodes represent orphan pages — pages with zero incoming internal links. These are the pages Google may never discover, and they're the biggest quick-win opportunities. Teal nodes represent your well-linked pages, your strongest content hubs that are already distributing authority effectively.
 You can pan around, zoom in on clusters, and hover over any node to see detailed information — including word count, total links, and link counts. Below the graph, you'll find key metrics at a glance: total internal links across your site, how many pages are indexed, how many orphans need attention, and your average links per page. In this example, you can see 182 orphan pages out of 386 indexed — nearly half the site needs internal linking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one of the most critical features of LinkForge — orphan page detection. Studies show that nearly half of all website pages have zero incoming internal links, meaning Google may never discover or rank them. That 47% figure is an industry average backed by multiple SEO audits. LinkForge solves this in three ways. First, Instant Detection: every orphan page is automatically flagged with a warning badge across all views — whether you're browsing the Pages list, reviewing Suggestions, or looking at the Analytics graph. You don't have to go looking for orphans; they find you. Second, Filter &amp; Sort: once detected, you can quickly isolate orphan pages and sort them by word count, URL, or title. This makes it easy to prioritize — for example, you might want to link high-word-count pages first since they likely represent your most valuable content. Third, One-Click Fix: the AI engine suggests the best internal links for each orphan page based on semantic relevance. You simply review, approve, and export. No manual guesswork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pricing — four tiers designed to grow with you. Starter is completely free forever: one site, fifty pages, and a hundred suggestions per month. It's perfect for trying LinkForge on a personal blog or small project. Our most popular plan is Pro at forty-nine dollars a month. You get five sites, five hundred pages, and two thousand AI-powered suggestions. This tier also includes auto-apply for one-click implementation and priority support. For agencies and growing teams, Business at one forty-nine per month gives you twenty-five sites, five thousand pages, ten thousand suggestions, plus bulk actions, full analytics, API access, and white-label capabilities — ideal if you're serving multiple clients. Finally, Enterprise is custom-priced for large organizations that need SOC 2 compliance, SSO, a plugin SDK for custom integrations, and a dedicated support contact. All plans start with a fourteen-day free trial, and you can cancel anytime. There are no hidden fees, no long-term contracts, and no credit card required to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brings us to the close. If you've been manually managing internal links or, worse, ignoring them entirely, now is the time to act. LinkForge takes what used to be hours of tedious work and turns it into a few minutes of review and approval. Click the primary button to get started completely free — no credit card required. You'll have full access to all Starter features, including AI-powered suggestions on up to fifty pages. Prefer to see the product in action first? Hit the secondary button to view the full interactive demo at linkforge.digital. And just to give you peace of mind: every plan comes with a fourteen-day free trial, LinkForge works with any CMS — WordPress, Shopify, Webflow, Ghost, or fully custom setups — and you can cancel anytime with no questions asked. There's really no reason not to try it. Thank you for watching, and I look forward to seeing you on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000"/>
          </a:blip>
          <a:stretch>
            <a:fillRect/>
          </a:stretch>
        </p:blipFill>
        <p:spPr>
          <a:xfrm>
            <a:off x="6000750" y="-857250"/>
            <a:ext cx="3714750" cy="3714750"/>
          </a:xfrm>
          <a:prstGeom prst="rect">
            <a:avLst/>
          </a:prstGeom>
        </p:spPr>
      </p:pic>
      <p:sp>
        <p:nvSpPr>
          <p:cNvPr id="3" name="Text 0"/>
          <p:cNvSpPr/>
          <p:nvPr/>
        </p:nvSpPr>
        <p:spPr>
          <a:xfrm>
            <a:off x="6000750" y="-857250"/>
            <a:ext cx="3714750" cy="3714750"/>
          </a:xfrm>
          <a:prstGeom prst="ellipse">
            <a:avLst/>
          </a:prstGeom>
          <a:solidFill>
            <a:srgbClr val="FB923C">
              <a:alpha val="8000"/>
            </a:srgbClr>
          </a:solidFill>
          <a:ln/>
        </p:spPr>
        <p:txBody>
          <a:bodyPr wrap="square" rtlCol="0" anchor="ctr"/>
          <a:lstStyle/>
          <a:p>
            <a:pPr indent="0" marL="0">
              <a:buNone/>
            </a:pPr>
            <a:endParaRPr lang="en-US" dirty="0"/>
          </a:p>
        </p:txBody>
      </p:sp>
      <p:pic>
        <p:nvPicPr>
          <p:cNvPr id="4" name="Image 1" descr="preencoded.png">    </p:cNvPr>
          <p:cNvPicPr>
            <a:picLocks noChangeAspect="1"/>
          </p:cNvPicPr>
          <p:nvPr/>
        </p:nvPicPr>
        <p:blipFill>
          <a:blip r:embed="rId2">
            <a:alphaModFix amt="6000"/>
          </a:blip>
          <a:stretch>
            <a:fillRect/>
          </a:stretch>
        </p:blipFill>
        <p:spPr>
          <a:xfrm>
            <a:off x="-428625" y="2571750"/>
            <a:ext cx="3286125" cy="3286125"/>
          </a:xfrm>
          <a:prstGeom prst="rect">
            <a:avLst/>
          </a:prstGeom>
        </p:spPr>
      </p:pic>
      <p:sp>
        <p:nvSpPr>
          <p:cNvPr id="5" name="Text 1"/>
          <p:cNvSpPr/>
          <p:nvPr/>
        </p:nvSpPr>
        <p:spPr>
          <a:xfrm>
            <a:off x="-428625" y="2571750"/>
            <a:ext cx="3286125" cy="3286125"/>
          </a:xfrm>
          <a:prstGeom prst="ellipse">
            <a:avLst/>
          </a:prstGeom>
          <a:solidFill>
            <a:srgbClr val="14B8A6">
              <a:alpha val="6000"/>
            </a:srgbClr>
          </a:solidFill>
          <a:ln/>
        </p:spPr>
        <p:txBody>
          <a:bodyPr wrap="square" rtlCol="0" anchor="ctr"/>
          <a:lstStyle/>
          <a:p>
            <a:pPr indent="0" marL="0">
              <a:buNone/>
            </a:pPr>
            <a:endParaRPr lang="en-US" dirty="0"/>
          </a:p>
        </p:txBody>
      </p:sp>
      <p:sp>
        <p:nvSpPr>
          <p:cNvPr id="6" name="Text 2"/>
          <p:cNvSpPr/>
          <p:nvPr/>
        </p:nvSpPr>
        <p:spPr>
          <a:xfrm>
            <a:off x="405765" y="4577215"/>
            <a:ext cx="1174209" cy="236030"/>
          </a:xfrm>
          <a:prstGeom prst="roundRect">
            <a:avLst>
              <a:gd name="adj" fmla="val 40351004"/>
            </a:avLst>
          </a:prstGeom>
          <a:solidFill>
            <a:srgbClr val="FFF7ED"/>
          </a:solidFill>
          <a:ln/>
        </p:spPr>
        <p:txBody>
          <a:bodyPr wrap="square" rtlCol="0" anchor="ctr"/>
          <a:lstStyle/>
          <a:p>
            <a:pPr indent="0" marL="0">
              <a:buNone/>
            </a:pPr>
            <a:endParaRPr lang="en-US" dirty="0"/>
          </a:p>
        </p:txBody>
      </p:sp>
      <p:sp>
        <p:nvSpPr>
          <p:cNvPr id="7" name="Text 3"/>
          <p:cNvSpPr/>
          <p:nvPr/>
        </p:nvSpPr>
        <p:spPr>
          <a:xfrm>
            <a:off x="682018" y="4639866"/>
            <a:ext cx="778866" cy="126609"/>
          </a:xfrm>
          <a:prstGeom prst="rect">
            <a:avLst/>
          </a:prstGeom>
          <a:noFill/>
          <a:ln/>
        </p:spPr>
        <p:txBody>
          <a:bodyPr wrap="none" lIns="0" tIns="0" rIns="0" bIns="0" rtlCol="0" anchor="t"/>
          <a:lstStyle/>
          <a:p>
            <a:pPr algn="l" indent="0" marL="0">
              <a:lnSpc>
                <a:spcPts val="1097"/>
              </a:lnSpc>
              <a:buNone/>
            </a:pPr>
            <a:r>
              <a:rPr lang="en-US" sz="800" dirty="0">
                <a:solidFill>
                  <a:srgbClr val="F97316"/>
                </a:solidFill>
                <a:latin typeface="Carlito" pitchFamily="34" charset="0"/>
                <a:ea typeface="Carlito" pitchFamily="34" charset="-122"/>
                <a:cs typeface="Carlito" pitchFamily="34" charset="-120"/>
              </a:rPr>
              <a:t>Product Demo</a:t>
            </a:r>
            <a:endParaRPr lang="en-US" sz="800" dirty="0"/>
          </a:p>
        </p:txBody>
      </p:sp>
      <p:sp>
        <p:nvSpPr>
          <p:cNvPr id="8" name="Text 4"/>
          <p:cNvSpPr/>
          <p:nvPr/>
        </p:nvSpPr>
        <p:spPr>
          <a:xfrm>
            <a:off x="542925" y="4638080"/>
            <a:ext cx="114300" cy="114300"/>
          </a:xfrm>
          <a:prstGeom prst="rect">
            <a:avLst/>
          </a:prstGeom>
          <a:noFill/>
          <a:ln/>
        </p:spPr>
        <p:txBody>
          <a:bodyPr wrap="none" lIns="0" tIns="0" rIns="0" bIns="0" rtlCol="0" anchor="ctr"/>
          <a:lstStyle/>
          <a:p>
            <a:pPr algn="ctr" indent="0" marL="0">
              <a:buNone/>
            </a:pPr>
            <a:r>
              <a:rPr lang="en-US" sz="1125" dirty="0">
                <a:solidFill>
                  <a:srgbClr val="F97316"/>
                </a:solidFill>
                <a:latin typeface="Segoe UI Symbol" pitchFamily="34" charset="0"/>
                <a:ea typeface="Segoe UI Symbol" pitchFamily="34" charset="-122"/>
                <a:cs typeface="Segoe UI Symbol" pitchFamily="34" charset="-120"/>
              </a:rPr>
              <a:t>✦</a:t>
            </a:r>
            <a:endParaRPr lang="en-US" sz="1125" dirty="0"/>
          </a:p>
        </p:txBody>
      </p:sp>
      <p:sp>
        <p:nvSpPr>
          <p:cNvPr id="9" name="Text 5"/>
          <p:cNvSpPr/>
          <p:nvPr/>
        </p:nvSpPr>
        <p:spPr>
          <a:xfrm>
            <a:off x="274320" y="1617390"/>
            <a:ext cx="8595360" cy="712817"/>
          </a:xfrm>
          <a:prstGeom prst="rect">
            <a:avLst/>
          </a:prstGeom>
          <a:noFill/>
          <a:ln/>
        </p:spPr>
        <p:txBody>
          <a:bodyPr wrap="none" lIns="0" tIns="0" rIns="0" bIns="0" rtlCol="0" anchor="t"/>
          <a:lstStyle/>
          <a:p>
            <a:pPr algn="ctr" indent="0" marL="0">
              <a:lnSpc>
                <a:spcPts val="5198"/>
              </a:lnSpc>
              <a:buNone/>
            </a:pPr>
            <a:r>
              <a:rPr lang="en-US" sz="4950" b="1" spc="-141" kern="0" dirty="0">
                <a:solidFill>
                  <a:srgbClr val="F97316"/>
                </a:solidFill>
                <a:latin typeface="Carlito" pitchFamily="34" charset="0"/>
                <a:ea typeface="Carlito" pitchFamily="34" charset="-122"/>
                <a:cs typeface="Carlito" pitchFamily="34" charset="-120"/>
              </a:rPr>
              <a:t>LinkForge</a:t>
            </a:r>
            <a:endParaRPr lang="en-US" sz="4950" dirty="0"/>
          </a:p>
        </p:txBody>
      </p:sp>
      <p:sp>
        <p:nvSpPr>
          <p:cNvPr id="10" name="Text 6"/>
          <p:cNvSpPr/>
          <p:nvPr/>
        </p:nvSpPr>
        <p:spPr>
          <a:xfrm>
            <a:off x="2103120" y="2448855"/>
            <a:ext cx="4937760" cy="300895"/>
          </a:xfrm>
          <a:prstGeom prst="rect">
            <a:avLst/>
          </a:prstGeom>
          <a:noFill/>
          <a:ln/>
        </p:spPr>
        <p:txBody>
          <a:bodyPr wrap="square" lIns="0" tIns="0" rIns="0" bIns="0" rtlCol="0" anchor="t"/>
          <a:lstStyle/>
          <a:p>
            <a:pPr algn="ctr" indent="0" marL="0">
              <a:lnSpc>
                <a:spcPts val="2194"/>
              </a:lnSpc>
              <a:buNone/>
            </a:pPr>
            <a:r>
              <a:rPr lang="en-US" sz="1463" spc="-17" kern="0" dirty="0">
                <a:solidFill>
                  <a:srgbClr val="1E293B"/>
                </a:solidFill>
                <a:latin typeface="Carlito" pitchFamily="34" charset="0"/>
                <a:ea typeface="Carlito" pitchFamily="34" charset="-122"/>
                <a:cs typeface="Carlito" pitchFamily="34" charset="-120"/>
              </a:rPr>
              <a:t>Smart Internal Linking for Any Website</a:t>
            </a:r>
            <a:endParaRPr lang="en-US" sz="1463" dirty="0"/>
          </a:p>
        </p:txBody>
      </p:sp>
      <p:sp>
        <p:nvSpPr>
          <p:cNvPr id="11" name="Text 7"/>
          <p:cNvSpPr/>
          <p:nvPr/>
        </p:nvSpPr>
        <p:spPr>
          <a:xfrm>
            <a:off x="2286000" y="2870336"/>
            <a:ext cx="4572000" cy="708115"/>
          </a:xfrm>
          <a:prstGeom prst="rect">
            <a:avLst/>
          </a:prstGeom>
          <a:noFill/>
          <a:ln/>
        </p:spPr>
        <p:txBody>
          <a:bodyPr wrap="square" lIns="0" tIns="0" rIns="0" bIns="0" rtlCol="0" anchor="t"/>
          <a:lstStyle/>
          <a:p>
            <a:pPr algn="ctr" indent="0" marL="0">
              <a:lnSpc>
                <a:spcPts val="1721"/>
              </a:lnSpc>
              <a:buNone/>
            </a:pPr>
            <a:r>
              <a:rPr lang="en-US" sz="1013" dirty="0">
                <a:solidFill>
                  <a:srgbClr val="64748B"/>
                </a:solidFill>
                <a:latin typeface="Carlito" pitchFamily="34" charset="0"/>
                <a:ea typeface="Carlito" pitchFamily="34" charset="-122"/>
                <a:cs typeface="Carlito" pitchFamily="34" charset="-120"/>
              </a:rPr>
              <a:t>AI-powered SEO tool that crawls your site, discovers orphan pages, and generates contextual internal link suggestions with optimal anchor text.</a:t>
            </a:r>
            <a:endParaRPr lang="en-US" sz="101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416624"/>
          </a:xfrm>
          <a:prstGeom prst="rect">
            <a:avLst/>
          </a:prstGeom>
          <a:noFill/>
          <a:ln/>
        </p:spPr>
        <p:txBody>
          <a:bodyPr wrap="none" lIns="0" tIns="0" rIns="0" bIns="0" rtlCol="0" anchor="t"/>
          <a:lstStyle/>
          <a:p>
            <a:pPr algn="l" indent="0" marL="0">
              <a:lnSpc>
                <a:spcPts val="3038"/>
              </a:lnSpc>
              <a:buNone/>
            </a:pPr>
            <a:r>
              <a:rPr lang="en-US" sz="2025" b="1" spc="-28" kern="0" dirty="0">
                <a:solidFill>
                  <a:srgbClr val="1E293B"/>
                </a:solidFill>
                <a:latin typeface="Carlito" pitchFamily="34" charset="0"/>
                <a:ea typeface="Carlito" pitchFamily="34" charset="-122"/>
                <a:cs typeface="Carlito" pitchFamily="34" charset="-120"/>
              </a:rPr>
              <a:t>The Hidden SEO Problem</a:t>
            </a:r>
            <a:endParaRPr lang="en-US" sz="2025" dirty="0"/>
          </a:p>
        </p:txBody>
      </p:sp>
      <p:sp>
        <p:nvSpPr>
          <p:cNvPr id="3" name="Text 1"/>
          <p:cNvSpPr/>
          <p:nvPr/>
        </p:nvSpPr>
        <p:spPr>
          <a:xfrm>
            <a:off x="600075" y="1085850"/>
            <a:ext cx="171450" cy="171450"/>
          </a:xfrm>
          <a:prstGeom prst="rect">
            <a:avLst/>
          </a:prstGeom>
          <a:noFill/>
          <a:ln/>
        </p:spPr>
        <p:txBody>
          <a:bodyPr wrap="none" lIns="0" tIns="0" rIns="0" bIns="0" rtlCol="0" anchor="ctr"/>
          <a:lstStyle/>
          <a:p>
            <a:pPr algn="ctr" indent="0" marL="0">
              <a:buNone/>
            </a:pPr>
            <a:r>
              <a:rPr lang="en-US" sz="1688" dirty="0">
                <a:solidFill>
                  <a:srgbClr val="F43F5E"/>
                </a:solidFill>
                <a:latin typeface="Segoe UI Symbol" pitchFamily="34" charset="0"/>
                <a:ea typeface="Segoe UI Symbol" pitchFamily="34" charset="-122"/>
                <a:cs typeface="Segoe UI Symbol" pitchFamily="34" charset="-120"/>
              </a:rPr>
              <a:t>⚠</a:t>
            </a:r>
            <a:endParaRPr lang="en-US" sz="1688" dirty="0"/>
          </a:p>
        </p:txBody>
      </p:sp>
      <p:sp>
        <p:nvSpPr>
          <p:cNvPr id="4" name="Text 2"/>
          <p:cNvSpPr/>
          <p:nvPr/>
        </p:nvSpPr>
        <p:spPr>
          <a:xfrm>
            <a:off x="871538" y="1071563"/>
            <a:ext cx="4523333" cy="469063"/>
          </a:xfrm>
          <a:prstGeom prst="rect">
            <a:avLst/>
          </a:prstGeom>
          <a:noFill/>
          <a:ln/>
        </p:spPr>
        <p:txBody>
          <a:bodyPr wrap="square" lIns="0" tIns="0" rIns="0" bIns="0" rtlCol="0" anchor="t"/>
          <a:lstStyle/>
          <a:p>
            <a:pPr algn="l" indent="0" marL="0">
              <a:lnSpc>
                <a:spcPts val="1800"/>
              </a:lnSpc>
              <a:buNone/>
            </a:pPr>
            <a:r>
              <a:rPr lang="en-US" sz="1125" b="1" dirty="0">
                <a:solidFill>
                  <a:srgbClr val="F43F5E"/>
                </a:solidFill>
                <a:latin typeface="Liberation Sans Narrow" pitchFamily="34" charset="0"/>
                <a:ea typeface="Liberation Sans Narrow" pitchFamily="34" charset="-122"/>
                <a:cs typeface="Liberation Sans Narrow" pitchFamily="34" charset="-120"/>
              </a:rPr>
              <a:t>47%</a:t>
            </a:r>
            <a:pPr algn="l" indent="0" marL="0">
              <a:lnSpc>
                <a:spcPts val="1800"/>
              </a:lnSpc>
              <a:buNone/>
            </a:pPr>
            <a:r>
              <a:rPr lang="en-US" sz="1013" dirty="0">
                <a:solidFill>
                  <a:srgbClr val="1E293B"/>
                </a:solidFill>
                <a:latin typeface="Carlito" pitchFamily="34" charset="0"/>
                <a:ea typeface="Carlito" pitchFamily="34" charset="-122"/>
                <a:cs typeface="Carlito" pitchFamily="34" charset="-120"/>
              </a:rPr>
              <a:t> of website pages have zero internal links — Google may never find them.</a:t>
            </a:r>
            <a:endParaRPr lang="en-US" sz="1013" dirty="0"/>
          </a:p>
        </p:txBody>
      </p:sp>
      <p:sp>
        <p:nvSpPr>
          <p:cNvPr id="5" name="Text 3"/>
          <p:cNvSpPr/>
          <p:nvPr/>
        </p:nvSpPr>
        <p:spPr>
          <a:xfrm>
            <a:off x="600075" y="1720193"/>
            <a:ext cx="171450" cy="171450"/>
          </a:xfrm>
          <a:prstGeom prst="rect">
            <a:avLst/>
          </a:prstGeom>
          <a:noFill/>
          <a:ln/>
        </p:spPr>
        <p:txBody>
          <a:bodyPr wrap="none" lIns="0" tIns="0" rIns="0" bIns="0" rtlCol="0" anchor="ctr"/>
          <a:lstStyle/>
          <a:p>
            <a:pPr algn="ctr" indent="0" marL="0">
              <a:buNone/>
            </a:pPr>
            <a:r>
              <a:rPr lang="en-US" sz="1688" dirty="0">
                <a:solidFill>
                  <a:srgbClr val="F43F5E"/>
                </a:solidFill>
                <a:latin typeface="Segoe UI Symbol" pitchFamily="34" charset="0"/>
                <a:ea typeface="Segoe UI Symbol" pitchFamily="34" charset="-122"/>
                <a:cs typeface="Segoe UI Symbol" pitchFamily="34" charset="-120"/>
              </a:rPr>
              <a:t>⌘</a:t>
            </a:r>
            <a:endParaRPr lang="en-US" sz="1688" dirty="0"/>
          </a:p>
        </p:txBody>
      </p:sp>
      <p:sp>
        <p:nvSpPr>
          <p:cNvPr id="6" name="Text 4"/>
          <p:cNvSpPr/>
          <p:nvPr/>
        </p:nvSpPr>
        <p:spPr>
          <a:xfrm>
            <a:off x="871538" y="1705905"/>
            <a:ext cx="4523333" cy="444350"/>
          </a:xfrm>
          <a:prstGeom prst="rect">
            <a:avLst/>
          </a:prstGeom>
          <a:noFill/>
          <a:ln/>
        </p:spPr>
        <p:txBody>
          <a:bodyPr wrap="square" lIns="0" tIns="0" rIns="0" bIns="0" rtlCol="0" anchor="t"/>
          <a:lstStyle/>
          <a:p>
            <a:pPr algn="l" indent="0" marL="0">
              <a:lnSpc>
                <a:spcPts val="1620"/>
              </a:lnSpc>
              <a:buNone/>
            </a:pPr>
            <a:r>
              <a:rPr lang="en-US" sz="1013" dirty="0">
                <a:solidFill>
                  <a:srgbClr val="1E293B"/>
                </a:solidFill>
                <a:latin typeface="Carlito" pitchFamily="34" charset="0"/>
                <a:ea typeface="Carlito" pitchFamily="34" charset="-122"/>
                <a:cs typeface="Carlito" pitchFamily="34" charset="-120"/>
              </a:rPr>
              <a:t>Without internal links, page authority doesn't flow — every page competes alone.</a:t>
            </a:r>
            <a:endParaRPr lang="en-US" sz="1013" dirty="0"/>
          </a:p>
        </p:txBody>
      </p:sp>
      <p:sp>
        <p:nvSpPr>
          <p:cNvPr id="7" name="Text 5"/>
          <p:cNvSpPr/>
          <p:nvPr/>
        </p:nvSpPr>
        <p:spPr>
          <a:xfrm>
            <a:off x="600075" y="2331653"/>
            <a:ext cx="171450" cy="171450"/>
          </a:xfrm>
          <a:prstGeom prst="rect">
            <a:avLst/>
          </a:prstGeom>
          <a:noFill/>
          <a:ln/>
        </p:spPr>
        <p:txBody>
          <a:bodyPr wrap="none" lIns="0" tIns="0" rIns="0" bIns="0" rtlCol="0" anchor="ctr"/>
          <a:lstStyle/>
          <a:p>
            <a:pPr algn="ctr" indent="0" marL="0">
              <a:buNone/>
            </a:pPr>
            <a:r>
              <a:rPr lang="en-US" sz="1688" dirty="0">
                <a:solidFill>
                  <a:srgbClr val="F43F5E"/>
                </a:solidFill>
                <a:latin typeface="Segoe UI Symbol" pitchFamily="34" charset="0"/>
                <a:ea typeface="Segoe UI Symbol" pitchFamily="34" charset="-122"/>
                <a:cs typeface="Segoe UI Symbol" pitchFamily="34" charset="-120"/>
              </a:rPr>
              <a:t>⚒</a:t>
            </a:r>
            <a:endParaRPr lang="en-US" sz="1688" dirty="0"/>
          </a:p>
        </p:txBody>
      </p:sp>
      <p:sp>
        <p:nvSpPr>
          <p:cNvPr id="8" name="Text 6"/>
          <p:cNvSpPr/>
          <p:nvPr/>
        </p:nvSpPr>
        <p:spPr>
          <a:xfrm>
            <a:off x="871538" y="2317366"/>
            <a:ext cx="4239481" cy="222175"/>
          </a:xfrm>
          <a:prstGeom prst="rect">
            <a:avLst/>
          </a:prstGeom>
          <a:noFill/>
          <a:ln/>
        </p:spPr>
        <p:txBody>
          <a:bodyPr wrap="square" lIns="0" tIns="0" rIns="0" bIns="0" rtlCol="0" anchor="t"/>
          <a:lstStyle/>
          <a:p>
            <a:pPr algn="l" indent="0" marL="0">
              <a:lnSpc>
                <a:spcPts val="1620"/>
              </a:lnSpc>
              <a:buNone/>
            </a:pPr>
            <a:r>
              <a:rPr lang="en-US" sz="1013" dirty="0">
                <a:solidFill>
                  <a:srgbClr val="1E293B"/>
                </a:solidFill>
                <a:latin typeface="Carlito" pitchFamily="34" charset="0"/>
                <a:ea typeface="Carlito" pitchFamily="34" charset="-122"/>
                <a:cs typeface="Carlito" pitchFamily="34" charset="-120"/>
              </a:rPr>
              <a:t>Manual internal linking is tedious, inconsistent, and doesn't scale.</a:t>
            </a:r>
            <a:endParaRPr lang="en-US" sz="1013" dirty="0"/>
          </a:p>
        </p:txBody>
      </p:sp>
      <p:sp>
        <p:nvSpPr>
          <p:cNvPr id="9" name="Text 7"/>
          <p:cNvSpPr/>
          <p:nvPr/>
        </p:nvSpPr>
        <p:spPr>
          <a:xfrm>
            <a:off x="5684193" y="1075134"/>
            <a:ext cx="3284674" cy="3150394"/>
          </a:xfrm>
          <a:prstGeom prst="roundRect">
            <a:avLst>
              <a:gd name="adj" fmla="val 4837"/>
            </a:avLst>
          </a:prstGeom>
          <a:noFill/>
          <a:ln w="7144">
            <a:solidFill>
              <a:srgbClr val="E2E8F0"/>
            </a:solidFill>
            <a:prstDash val="solid"/>
          </a:ln>
          <a:effectLst>
            <a:outerShdw sx="100000" sy="100000" kx="0" ky="0" algn="bl" rotWithShape="0" blurRad="228600" dist="38100" dir="5400000">
              <a:srgbClr val="000000">
                <a:alpha val="6000"/>
              </a:srgbClr>
            </a:outerShdw>
          </a:effectLst>
        </p:spPr>
        <p:txBody>
          <a:bodyPr wrap="square" rtlCol="0" anchor="ctr"/>
          <a:lstStyle/>
          <a:p>
            <a:pPr indent="0" marL="0">
              <a:buNone/>
            </a:pPr>
            <a:endParaRPr lang="en-US" dirty="0"/>
          </a:p>
        </p:txBody>
      </p:sp>
      <p:pic>
        <p:nvPicPr>
          <p:cNvPr id="10" name="Image 0" descr="/tmp/h2p-fit-1783793345311-uv9bsf.png">    </p:cNvPr>
          <p:cNvPicPr>
            <a:picLocks noChangeAspect="1"/>
          </p:cNvPicPr>
          <p:nvPr/>
        </p:nvPicPr>
        <p:blipFill>
          <a:blip r:embed="rId1"/>
          <a:stretch>
            <a:fillRect/>
          </a:stretch>
        </p:blipFill>
        <p:spPr>
          <a:xfrm>
            <a:off x="5687764" y="1078706"/>
            <a:ext cx="3277530" cy="31432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1460" y="400050"/>
            <a:ext cx="8636000" cy="416624"/>
          </a:xfrm>
          <a:prstGeom prst="rect">
            <a:avLst/>
          </a:prstGeom>
          <a:noFill/>
          <a:ln/>
        </p:spPr>
        <p:txBody>
          <a:bodyPr wrap="none" lIns="0" tIns="0" rIns="0" bIns="0" rtlCol="0" anchor="t"/>
          <a:lstStyle/>
          <a:p>
            <a:pPr algn="ctr" indent="0" marL="0">
              <a:lnSpc>
                <a:spcPts val="3038"/>
              </a:lnSpc>
              <a:buNone/>
            </a:pPr>
            <a:r>
              <a:rPr lang="en-US" sz="2025" b="1" spc="-28" kern="0" dirty="0">
                <a:solidFill>
                  <a:srgbClr val="1E293B"/>
                </a:solidFill>
                <a:latin typeface="Carlito" pitchFamily="34" charset="0"/>
                <a:ea typeface="Carlito" pitchFamily="34" charset="-122"/>
                <a:cs typeface="Carlito" pitchFamily="34" charset="-120"/>
              </a:rPr>
              <a:t>How LinkForge Works</a:t>
            </a:r>
            <a:endParaRPr lang="en-US" sz="2025" dirty="0"/>
          </a:p>
        </p:txBody>
      </p:sp>
      <p:sp>
        <p:nvSpPr>
          <p:cNvPr id="3" name="Text 1"/>
          <p:cNvSpPr/>
          <p:nvPr/>
        </p:nvSpPr>
        <p:spPr>
          <a:xfrm>
            <a:off x="128016" y="871538"/>
            <a:ext cx="8636000" cy="208312"/>
          </a:xfrm>
          <a:prstGeom prst="rect">
            <a:avLst/>
          </a:prstGeom>
          <a:noFill/>
          <a:ln/>
        </p:spPr>
        <p:txBody>
          <a:bodyPr wrap="square" lIns="0" tIns="0" rIns="0" bIns="0" rtlCol="0" anchor="t"/>
          <a:lstStyle/>
          <a:p>
            <a:pPr algn="ctr" indent="0" marL="0">
              <a:lnSpc>
                <a:spcPts val="1519"/>
              </a:lnSpc>
              <a:buNone/>
            </a:pPr>
            <a:r>
              <a:rPr lang="en-US" sz="1013" dirty="0">
                <a:solidFill>
                  <a:srgbClr val="64748B"/>
                </a:solidFill>
                <a:latin typeface="Carlito" pitchFamily="34" charset="0"/>
                <a:ea typeface="Carlito" pitchFamily="34" charset="-122"/>
                <a:cs typeface="Carlito" pitchFamily="34" charset="-120"/>
              </a:rPr>
              <a:t>Three simple steps to better internal linking.</a:t>
            </a:r>
            <a:endParaRPr lang="en-US" sz="1013" dirty="0"/>
          </a:p>
        </p:txBody>
      </p:sp>
      <p:pic>
        <p:nvPicPr>
          <p:cNvPr id="4" name="Image 0" descr="preencoded.png">    </p:cNvPr>
          <p:cNvPicPr>
            <a:picLocks noChangeAspect="1"/>
          </p:cNvPicPr>
          <p:nvPr/>
        </p:nvPicPr>
        <p:blipFill>
          <a:blip r:embed="rId1"/>
          <a:stretch>
            <a:fillRect/>
          </a:stretch>
        </p:blipFill>
        <p:spPr>
          <a:xfrm>
            <a:off x="2000473" y="1807369"/>
            <a:ext cx="5143054" cy="28575"/>
          </a:xfrm>
          <a:prstGeom prst="rect">
            <a:avLst/>
          </a:prstGeom>
        </p:spPr>
      </p:pic>
      <p:pic>
        <p:nvPicPr>
          <p:cNvPr id="5" name="Image 1" descr="preencoded.png">    </p:cNvPr>
          <p:cNvPicPr>
            <a:picLocks noChangeAspect="1"/>
          </p:cNvPicPr>
          <p:nvPr/>
        </p:nvPicPr>
        <p:blipFill>
          <a:blip r:embed="rId2"/>
          <a:stretch>
            <a:fillRect/>
          </a:stretch>
        </p:blipFill>
        <p:spPr>
          <a:xfrm>
            <a:off x="1657350" y="1407319"/>
            <a:ext cx="342900" cy="342900"/>
          </a:xfrm>
          <a:prstGeom prst="rect">
            <a:avLst/>
          </a:prstGeom>
        </p:spPr>
      </p:pic>
      <p:sp>
        <p:nvSpPr>
          <p:cNvPr id="6" name="Text 2"/>
          <p:cNvSpPr/>
          <p:nvPr/>
        </p:nvSpPr>
        <p:spPr>
          <a:xfrm>
            <a:off x="1657350" y="1407319"/>
            <a:ext cx="342900" cy="342900"/>
          </a:xfrm>
          <a:prstGeom prst="rect">
            <a:avLst/>
          </a:prstGeom>
          <a:noFill/>
          <a:ln/>
        </p:spPr>
        <p:txBody>
          <a:bodyPr wrap="none" lIns="0" tIns="0" rIns="0" bIns="0" rtlCol="0" anchor="ctr"/>
          <a:lstStyle/>
          <a:p>
            <a:pPr algn="ctr" indent="0" marL="0">
              <a:lnSpc>
                <a:spcPts val="1688"/>
              </a:lnSpc>
              <a:buNone/>
            </a:pPr>
            <a:r>
              <a:rPr lang="en-US" sz="1125" b="1" dirty="0">
                <a:solidFill>
                  <a:srgbClr val="FFFFFF"/>
                </a:solidFill>
                <a:latin typeface="Liberation Sans Narrow" pitchFamily="34" charset="0"/>
                <a:ea typeface="Liberation Sans Narrow" pitchFamily="34" charset="-122"/>
                <a:cs typeface="Liberation Sans Narrow" pitchFamily="34" charset="-120"/>
              </a:rPr>
              <a:t>1</a:t>
            </a:r>
            <a:endParaRPr lang="en-US" sz="1125" dirty="0"/>
          </a:p>
        </p:txBody>
      </p:sp>
      <p:sp>
        <p:nvSpPr>
          <p:cNvPr id="7" name="Text 3"/>
          <p:cNvSpPr/>
          <p:nvPr/>
        </p:nvSpPr>
        <p:spPr>
          <a:xfrm>
            <a:off x="603647" y="1925241"/>
            <a:ext cx="2450306" cy="2643188"/>
          </a:xfrm>
          <a:prstGeom prst="roundRect">
            <a:avLst>
              <a:gd name="adj" fmla="val 6220"/>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8" name="Text 4"/>
          <p:cNvSpPr/>
          <p:nvPr/>
        </p:nvSpPr>
        <p:spPr>
          <a:xfrm>
            <a:off x="1685925" y="2128838"/>
            <a:ext cx="285750" cy="285750"/>
          </a:xfrm>
          <a:prstGeom prst="rect">
            <a:avLst/>
          </a:prstGeom>
          <a:noFill/>
          <a:ln/>
        </p:spPr>
        <p:txBody>
          <a:bodyPr wrap="none" lIns="0" tIns="0" rIns="0" bIns="0" rtlCol="0" anchor="ctr"/>
          <a:lstStyle/>
          <a:p>
            <a:pPr algn="ctr" indent="0" marL="0">
              <a:buNone/>
            </a:pPr>
            <a:r>
              <a:rPr lang="en-US" sz="2813" dirty="0">
                <a:solidFill>
                  <a:srgbClr val="F97316"/>
                </a:solidFill>
                <a:latin typeface="Segoe UI Symbol" pitchFamily="34" charset="0"/>
                <a:ea typeface="Segoe UI Symbol" pitchFamily="34" charset="-122"/>
                <a:cs typeface="Segoe UI Symbol" pitchFamily="34" charset="-120"/>
              </a:rPr>
              <a:t>◯</a:t>
            </a:r>
            <a:endParaRPr lang="en-US" sz="2813" dirty="0"/>
          </a:p>
        </p:txBody>
      </p:sp>
      <p:sp>
        <p:nvSpPr>
          <p:cNvPr id="9" name="Text 5"/>
          <p:cNvSpPr/>
          <p:nvPr/>
        </p:nvSpPr>
        <p:spPr>
          <a:xfrm>
            <a:off x="750094" y="2528888"/>
            <a:ext cx="2157413" cy="254603"/>
          </a:xfrm>
          <a:prstGeom prst="rect">
            <a:avLst/>
          </a:prstGeom>
          <a:noFill/>
          <a:ln/>
        </p:spPr>
        <p:txBody>
          <a:bodyPr wrap="none" lIns="0" tIns="0" rIns="0" bIns="0" rtlCol="0" anchor="t"/>
          <a:lstStyle/>
          <a:p>
            <a:pPr algn="ctr" indent="0" marL="0">
              <a:lnSpc>
                <a:spcPts val="1856"/>
              </a:lnSpc>
              <a:buNone/>
            </a:pPr>
            <a:r>
              <a:rPr lang="en-US" sz="1238" b="1" dirty="0">
                <a:solidFill>
                  <a:srgbClr val="1E293B"/>
                </a:solidFill>
                <a:latin typeface="Carlito" pitchFamily="34" charset="0"/>
                <a:ea typeface="Carlito" pitchFamily="34" charset="-122"/>
                <a:cs typeface="Carlito" pitchFamily="34" charset="-120"/>
              </a:rPr>
              <a:t>Add Your Site</a:t>
            </a:r>
            <a:endParaRPr lang="en-US" sz="1238" dirty="0"/>
          </a:p>
        </p:txBody>
      </p:sp>
      <p:sp>
        <p:nvSpPr>
          <p:cNvPr id="10" name="Text 6"/>
          <p:cNvSpPr/>
          <p:nvPr/>
        </p:nvSpPr>
        <p:spPr>
          <a:xfrm>
            <a:off x="750094" y="2864644"/>
            <a:ext cx="2157413" cy="814441"/>
          </a:xfrm>
          <a:prstGeom prst="rect">
            <a:avLst/>
          </a:prstGeom>
          <a:noFill/>
          <a:ln/>
        </p:spPr>
        <p:txBody>
          <a:bodyPr wrap="square" lIns="0" tIns="0" rIns="0" bIns="0" rtlCol="0" anchor="t"/>
          <a:lstStyle/>
          <a:p>
            <a:pPr algn="ctr" indent="0" marL="0">
              <a:lnSpc>
                <a:spcPts val="1485"/>
              </a:lnSpc>
              <a:buNone/>
            </a:pPr>
            <a:r>
              <a:rPr lang="en-US" sz="900" dirty="0">
                <a:solidFill>
                  <a:srgbClr val="64748B"/>
                </a:solidFill>
                <a:latin typeface="Carlito" pitchFamily="34" charset="0"/>
                <a:ea typeface="Carlito" pitchFamily="34" charset="-122"/>
                <a:cs typeface="Carlito" pitchFamily="34" charset="-120"/>
              </a:rPr>
              <a:t>Enter your website URL. LinkForge works with WordPress, Shopify, Webflow, Ghost, or any custom site — no plugins needed.</a:t>
            </a:r>
            <a:endParaRPr lang="en-US" sz="900" dirty="0"/>
          </a:p>
        </p:txBody>
      </p:sp>
      <p:pic>
        <p:nvPicPr>
          <p:cNvPr id="11" name="Image 2" descr="preencoded.png">    </p:cNvPr>
          <p:cNvPicPr>
            <a:picLocks noChangeAspect="1"/>
          </p:cNvPicPr>
          <p:nvPr/>
        </p:nvPicPr>
        <p:blipFill>
          <a:blip r:embed="rId3"/>
          <a:stretch>
            <a:fillRect/>
          </a:stretch>
        </p:blipFill>
        <p:spPr>
          <a:xfrm>
            <a:off x="4400550" y="1407319"/>
            <a:ext cx="342900" cy="342900"/>
          </a:xfrm>
          <a:prstGeom prst="rect">
            <a:avLst/>
          </a:prstGeom>
        </p:spPr>
      </p:pic>
      <p:sp>
        <p:nvSpPr>
          <p:cNvPr id="12" name="Text 7"/>
          <p:cNvSpPr/>
          <p:nvPr/>
        </p:nvSpPr>
        <p:spPr>
          <a:xfrm>
            <a:off x="4400550" y="1407319"/>
            <a:ext cx="342900" cy="342900"/>
          </a:xfrm>
          <a:prstGeom prst="rect">
            <a:avLst/>
          </a:prstGeom>
          <a:noFill/>
          <a:ln/>
        </p:spPr>
        <p:txBody>
          <a:bodyPr wrap="none" lIns="0" tIns="0" rIns="0" bIns="0" rtlCol="0" anchor="ctr"/>
          <a:lstStyle/>
          <a:p>
            <a:pPr algn="ctr" indent="0" marL="0">
              <a:lnSpc>
                <a:spcPts val="1688"/>
              </a:lnSpc>
              <a:buNone/>
            </a:pPr>
            <a:r>
              <a:rPr lang="en-US" sz="1125" b="1" dirty="0">
                <a:solidFill>
                  <a:srgbClr val="FFFFFF"/>
                </a:solidFill>
                <a:latin typeface="Liberation Sans Narrow" pitchFamily="34" charset="0"/>
                <a:ea typeface="Liberation Sans Narrow" pitchFamily="34" charset="-122"/>
                <a:cs typeface="Liberation Sans Narrow" pitchFamily="34" charset="-120"/>
              </a:rPr>
              <a:t>2</a:t>
            </a:r>
            <a:endParaRPr lang="en-US" sz="1125" dirty="0"/>
          </a:p>
        </p:txBody>
      </p:sp>
      <p:sp>
        <p:nvSpPr>
          <p:cNvPr id="13" name="Text 8"/>
          <p:cNvSpPr/>
          <p:nvPr/>
        </p:nvSpPr>
        <p:spPr>
          <a:xfrm>
            <a:off x="3346847" y="1925241"/>
            <a:ext cx="2450306" cy="2643188"/>
          </a:xfrm>
          <a:prstGeom prst="roundRect">
            <a:avLst>
              <a:gd name="adj" fmla="val 6220"/>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14" name="Text 9"/>
          <p:cNvSpPr/>
          <p:nvPr/>
        </p:nvSpPr>
        <p:spPr>
          <a:xfrm>
            <a:off x="4429125" y="2128838"/>
            <a:ext cx="285750" cy="285750"/>
          </a:xfrm>
          <a:prstGeom prst="rect">
            <a:avLst/>
          </a:prstGeom>
          <a:noFill/>
          <a:ln/>
        </p:spPr>
        <p:txBody>
          <a:bodyPr wrap="none" lIns="0" tIns="0" rIns="0" bIns="0" rtlCol="0" anchor="ctr"/>
          <a:lstStyle/>
          <a:p>
            <a:pPr algn="ctr" indent="0" marL="0">
              <a:buNone/>
            </a:pPr>
            <a:r>
              <a:rPr lang="en-US" sz="2813" dirty="0">
                <a:solidFill>
                  <a:srgbClr val="F97316"/>
                </a:solidFill>
                <a:latin typeface="Segoe UI Symbol" pitchFamily="34" charset="0"/>
                <a:ea typeface="Segoe UI Symbol" pitchFamily="34" charset="-122"/>
                <a:cs typeface="Segoe UI Symbol" pitchFamily="34" charset="-120"/>
              </a:rPr>
              <a:t>⌕</a:t>
            </a:r>
            <a:endParaRPr lang="en-US" sz="2813" dirty="0"/>
          </a:p>
        </p:txBody>
      </p:sp>
      <p:sp>
        <p:nvSpPr>
          <p:cNvPr id="15" name="Text 10"/>
          <p:cNvSpPr/>
          <p:nvPr/>
        </p:nvSpPr>
        <p:spPr>
          <a:xfrm>
            <a:off x="3493294" y="2528888"/>
            <a:ext cx="2157413" cy="254603"/>
          </a:xfrm>
          <a:prstGeom prst="rect">
            <a:avLst/>
          </a:prstGeom>
          <a:noFill/>
          <a:ln/>
        </p:spPr>
        <p:txBody>
          <a:bodyPr wrap="none" lIns="0" tIns="0" rIns="0" bIns="0" rtlCol="0" anchor="t"/>
          <a:lstStyle/>
          <a:p>
            <a:pPr algn="ctr" indent="0" marL="0">
              <a:lnSpc>
                <a:spcPts val="1856"/>
              </a:lnSpc>
              <a:buNone/>
            </a:pPr>
            <a:r>
              <a:rPr lang="en-US" sz="1238" b="1" dirty="0">
                <a:solidFill>
                  <a:srgbClr val="1E293B"/>
                </a:solidFill>
                <a:latin typeface="Carlito" pitchFamily="34" charset="0"/>
                <a:ea typeface="Carlito" pitchFamily="34" charset="-122"/>
                <a:cs typeface="Carlito" pitchFamily="34" charset="-120"/>
              </a:rPr>
              <a:t>Crawl &amp; Analyze</a:t>
            </a:r>
            <a:endParaRPr lang="en-US" sz="1238" dirty="0"/>
          </a:p>
        </p:txBody>
      </p:sp>
      <p:sp>
        <p:nvSpPr>
          <p:cNvPr id="16" name="Text 11"/>
          <p:cNvSpPr/>
          <p:nvPr/>
        </p:nvSpPr>
        <p:spPr>
          <a:xfrm>
            <a:off x="3493294" y="2864644"/>
            <a:ext cx="2157413" cy="814441"/>
          </a:xfrm>
          <a:prstGeom prst="rect">
            <a:avLst/>
          </a:prstGeom>
          <a:noFill/>
          <a:ln/>
        </p:spPr>
        <p:txBody>
          <a:bodyPr wrap="square" lIns="0" tIns="0" rIns="0" bIns="0" rtlCol="0" anchor="t"/>
          <a:lstStyle/>
          <a:p>
            <a:pPr algn="ctr" indent="0" marL="0">
              <a:lnSpc>
                <a:spcPts val="1485"/>
              </a:lnSpc>
              <a:buNone/>
            </a:pPr>
            <a:r>
              <a:rPr lang="en-US" sz="900" dirty="0">
                <a:solidFill>
                  <a:srgbClr val="64748B"/>
                </a:solidFill>
                <a:latin typeface="Carlito" pitchFamily="34" charset="0"/>
                <a:ea typeface="Carlito" pitchFamily="34" charset="-122"/>
                <a:cs typeface="Carlito" pitchFamily="34" charset="-120"/>
              </a:rPr>
              <a:t>Our engine discovers your pages via sitemap, crawls content, and uses AI to understand semantic relationships between pages.</a:t>
            </a:r>
            <a:endParaRPr lang="en-US" sz="900" dirty="0"/>
          </a:p>
        </p:txBody>
      </p:sp>
      <p:pic>
        <p:nvPicPr>
          <p:cNvPr id="17" name="Image 3" descr="preencoded.png">    </p:cNvPr>
          <p:cNvPicPr>
            <a:picLocks noChangeAspect="1"/>
          </p:cNvPicPr>
          <p:nvPr/>
        </p:nvPicPr>
        <p:blipFill>
          <a:blip r:embed="rId4"/>
          <a:stretch>
            <a:fillRect/>
          </a:stretch>
        </p:blipFill>
        <p:spPr>
          <a:xfrm>
            <a:off x="7143750" y="1407319"/>
            <a:ext cx="342900" cy="342900"/>
          </a:xfrm>
          <a:prstGeom prst="rect">
            <a:avLst/>
          </a:prstGeom>
        </p:spPr>
      </p:pic>
      <p:sp>
        <p:nvSpPr>
          <p:cNvPr id="18" name="Text 12"/>
          <p:cNvSpPr/>
          <p:nvPr/>
        </p:nvSpPr>
        <p:spPr>
          <a:xfrm>
            <a:off x="7143750" y="1407319"/>
            <a:ext cx="342900" cy="342900"/>
          </a:xfrm>
          <a:prstGeom prst="rect">
            <a:avLst/>
          </a:prstGeom>
          <a:noFill/>
          <a:ln/>
        </p:spPr>
        <p:txBody>
          <a:bodyPr wrap="none" lIns="0" tIns="0" rIns="0" bIns="0" rtlCol="0" anchor="ctr"/>
          <a:lstStyle/>
          <a:p>
            <a:pPr algn="ctr" indent="0" marL="0">
              <a:lnSpc>
                <a:spcPts val="1688"/>
              </a:lnSpc>
              <a:buNone/>
            </a:pPr>
            <a:r>
              <a:rPr lang="en-US" sz="1125" b="1" dirty="0">
                <a:solidFill>
                  <a:srgbClr val="FFFFFF"/>
                </a:solidFill>
                <a:latin typeface="Liberation Sans Narrow" pitchFamily="34" charset="0"/>
                <a:ea typeface="Liberation Sans Narrow" pitchFamily="34" charset="-122"/>
                <a:cs typeface="Liberation Sans Narrow" pitchFamily="34" charset="-120"/>
              </a:rPr>
              <a:t>3</a:t>
            </a:r>
            <a:endParaRPr lang="en-US" sz="1125" dirty="0"/>
          </a:p>
        </p:txBody>
      </p:sp>
      <p:sp>
        <p:nvSpPr>
          <p:cNvPr id="19" name="Text 13"/>
          <p:cNvSpPr/>
          <p:nvPr/>
        </p:nvSpPr>
        <p:spPr>
          <a:xfrm>
            <a:off x="6090047" y="1925241"/>
            <a:ext cx="2450306" cy="2643188"/>
          </a:xfrm>
          <a:prstGeom prst="roundRect">
            <a:avLst>
              <a:gd name="adj" fmla="val 6220"/>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20" name="Text 14"/>
          <p:cNvSpPr/>
          <p:nvPr/>
        </p:nvSpPr>
        <p:spPr>
          <a:xfrm>
            <a:off x="7172325" y="2128838"/>
            <a:ext cx="285750" cy="285750"/>
          </a:xfrm>
          <a:prstGeom prst="rect">
            <a:avLst/>
          </a:prstGeom>
          <a:noFill/>
          <a:ln/>
        </p:spPr>
        <p:txBody>
          <a:bodyPr wrap="none" lIns="0" tIns="0" rIns="0" bIns="0" rtlCol="0" anchor="ctr"/>
          <a:lstStyle/>
          <a:p>
            <a:pPr algn="ctr" indent="0" marL="0">
              <a:buNone/>
            </a:pPr>
            <a:r>
              <a:rPr lang="en-US" sz="2813" dirty="0">
                <a:solidFill>
                  <a:srgbClr val="F97316"/>
                </a:solidFill>
                <a:latin typeface="Segoe UI Symbol" pitchFamily="34" charset="0"/>
                <a:ea typeface="Segoe UI Symbol" pitchFamily="34" charset="-122"/>
                <a:cs typeface="Segoe UI Symbol" pitchFamily="34" charset="-120"/>
              </a:rPr>
              <a:t>⌘</a:t>
            </a:r>
            <a:endParaRPr lang="en-US" sz="2813" dirty="0"/>
          </a:p>
        </p:txBody>
      </p:sp>
      <p:sp>
        <p:nvSpPr>
          <p:cNvPr id="21" name="Text 15"/>
          <p:cNvSpPr/>
          <p:nvPr/>
        </p:nvSpPr>
        <p:spPr>
          <a:xfrm>
            <a:off x="6236494" y="2528888"/>
            <a:ext cx="2157413" cy="254603"/>
          </a:xfrm>
          <a:prstGeom prst="rect">
            <a:avLst/>
          </a:prstGeom>
          <a:noFill/>
          <a:ln/>
        </p:spPr>
        <p:txBody>
          <a:bodyPr wrap="none" lIns="0" tIns="0" rIns="0" bIns="0" rtlCol="0" anchor="t"/>
          <a:lstStyle/>
          <a:p>
            <a:pPr algn="ctr" indent="0" marL="0">
              <a:lnSpc>
                <a:spcPts val="1856"/>
              </a:lnSpc>
              <a:buNone/>
            </a:pPr>
            <a:r>
              <a:rPr lang="en-US" sz="1238" b="1" dirty="0">
                <a:solidFill>
                  <a:srgbClr val="1E293B"/>
                </a:solidFill>
                <a:latin typeface="Carlito" pitchFamily="34" charset="0"/>
                <a:ea typeface="Carlito" pitchFamily="34" charset="-122"/>
                <a:cs typeface="Carlito" pitchFamily="34" charset="-120"/>
              </a:rPr>
              <a:t>Get Smart Links</a:t>
            </a:r>
            <a:endParaRPr lang="en-US" sz="1238" dirty="0"/>
          </a:p>
        </p:txBody>
      </p:sp>
      <p:sp>
        <p:nvSpPr>
          <p:cNvPr id="22" name="Text 16"/>
          <p:cNvSpPr/>
          <p:nvPr/>
        </p:nvSpPr>
        <p:spPr>
          <a:xfrm>
            <a:off x="6236494" y="2864644"/>
            <a:ext cx="2157413" cy="1018051"/>
          </a:xfrm>
          <a:prstGeom prst="rect">
            <a:avLst/>
          </a:prstGeom>
          <a:noFill/>
          <a:ln/>
        </p:spPr>
        <p:txBody>
          <a:bodyPr wrap="square" lIns="0" tIns="0" rIns="0" bIns="0" rtlCol="0" anchor="t"/>
          <a:lstStyle/>
          <a:p>
            <a:pPr algn="ctr" indent="0" marL="0">
              <a:lnSpc>
                <a:spcPts val="1485"/>
              </a:lnSpc>
              <a:buNone/>
            </a:pPr>
            <a:r>
              <a:rPr lang="en-US" sz="900" dirty="0">
                <a:solidFill>
                  <a:srgbClr val="64748B"/>
                </a:solidFill>
                <a:latin typeface="Carlito" pitchFamily="34" charset="0"/>
                <a:ea typeface="Carlito" pitchFamily="34" charset="-122"/>
                <a:cs typeface="Carlito" pitchFamily="34" charset="-120"/>
              </a:rPr>
              <a:t>Receive AI-generated internal link suggestions with optimal anchor text, relevance scores, and surrounding context — ready to apply.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0" y="-857250"/>
            <a:ext cx="2857500" cy="2857500"/>
          </a:xfrm>
          <a:prstGeom prst="rect">
            <a:avLst/>
          </a:prstGeom>
        </p:spPr>
      </p:pic>
      <p:sp>
        <p:nvSpPr>
          <p:cNvPr id="3" name="Text 0"/>
          <p:cNvSpPr/>
          <p:nvPr/>
        </p:nvSpPr>
        <p:spPr>
          <a:xfrm>
            <a:off x="6858000" y="-857250"/>
            <a:ext cx="2857500" cy="2857500"/>
          </a:xfrm>
          <a:prstGeom prst="ellipse">
            <a:avLst/>
          </a:prstGeom>
          <a:solidFill>
            <a:srgbClr val="FFFFFF">
              <a:alpha val="0"/>
            </a:srgbClr>
          </a:solidFill>
          <a:ln/>
        </p:spPr>
        <p:txBody>
          <a:bodyPr wrap="square" rtlCol="0" anchor="ctr"/>
          <a:lstStyle/>
          <a:p>
            <a:pPr indent="0" marL="0">
              <a:buNone/>
            </a:pPr>
            <a:endParaRPr lang="en-US" dirty="0"/>
          </a:p>
        </p:txBody>
      </p:sp>
      <p:pic>
        <p:nvPicPr>
          <p:cNvPr id="4" name="Image 1" descr="preencoded.png">    </p:cNvPr>
          <p:cNvPicPr>
            <a:picLocks noChangeAspect="1"/>
          </p:cNvPicPr>
          <p:nvPr/>
        </p:nvPicPr>
        <p:blipFill>
          <a:blip r:embed="rId2"/>
          <a:stretch>
            <a:fillRect/>
          </a:stretch>
        </p:blipFill>
        <p:spPr>
          <a:xfrm>
            <a:off x="-428625" y="3357563"/>
            <a:ext cx="2500313" cy="2500313"/>
          </a:xfrm>
          <a:prstGeom prst="rect">
            <a:avLst/>
          </a:prstGeom>
        </p:spPr>
      </p:pic>
      <p:sp>
        <p:nvSpPr>
          <p:cNvPr id="5" name="Text 1"/>
          <p:cNvSpPr/>
          <p:nvPr/>
        </p:nvSpPr>
        <p:spPr>
          <a:xfrm>
            <a:off x="-428625" y="3357563"/>
            <a:ext cx="2500313" cy="2500313"/>
          </a:xfrm>
          <a:prstGeom prst="ellipse">
            <a:avLst/>
          </a:prstGeom>
          <a:solidFill>
            <a:srgbClr val="FFFFFF">
              <a:alpha val="0"/>
            </a:srgbClr>
          </a:solidFill>
          <a:ln/>
        </p:spPr>
        <p:txBody>
          <a:bodyPr wrap="square" rtlCol="0" anchor="ctr"/>
          <a:lstStyle/>
          <a:p>
            <a:pPr indent="0" marL="0">
              <a:buNone/>
            </a:pPr>
            <a:endParaRPr lang="en-US" dirty="0"/>
          </a:p>
        </p:txBody>
      </p:sp>
      <p:sp>
        <p:nvSpPr>
          <p:cNvPr id="6" name="Text 2"/>
          <p:cNvSpPr/>
          <p:nvPr/>
        </p:nvSpPr>
        <p:spPr>
          <a:xfrm>
            <a:off x="514350" y="400050"/>
            <a:ext cx="8629650" cy="333202"/>
          </a:xfrm>
          <a:prstGeom prst="rect">
            <a:avLst/>
          </a:prstGeom>
          <a:noFill/>
          <a:ln/>
        </p:spPr>
        <p:txBody>
          <a:bodyPr wrap="square" lIns="0" tIns="0" rIns="0" bIns="0" rtlCol="0" anchor="t"/>
          <a:lstStyle/>
          <a:p>
            <a:pPr algn="l" indent="0" marL="0">
              <a:lnSpc>
                <a:spcPts val="2430"/>
              </a:lnSpc>
              <a:buNone/>
            </a:pPr>
            <a:r>
              <a:rPr lang="en-US" sz="2025" b="1" dirty="0">
                <a:solidFill>
                  <a:srgbClr val="1E293B"/>
                </a:solidFill>
                <a:latin typeface="Carlito" pitchFamily="34" charset="0"/>
                <a:ea typeface="Carlito" pitchFamily="34" charset="-122"/>
                <a:cs typeface="Carlito" pitchFamily="34" charset="-120"/>
              </a:rPr>
              <a:t>Smart Crawling — </a:t>
            </a:r>
            <a:pPr algn="l" indent="0" marL="0">
              <a:lnSpc>
                <a:spcPts val="2430"/>
              </a:lnSpc>
              <a:buNone/>
            </a:pPr>
            <a:r>
              <a:rPr lang="en-US" sz="2025" b="1" dirty="0">
                <a:solidFill>
                  <a:srgbClr val="F97316"/>
                </a:solidFill>
                <a:latin typeface="Carlito" pitchFamily="34" charset="0"/>
                <a:ea typeface="Carlito" pitchFamily="34" charset="-122"/>
                <a:cs typeface="Carlito" pitchFamily="34" charset="-120"/>
              </a:rPr>
              <a:t>Works With Any Website</a:t>
            </a:r>
            <a:endParaRPr lang="en-US" sz="2025" dirty="0"/>
          </a:p>
        </p:txBody>
      </p:sp>
      <p:sp>
        <p:nvSpPr>
          <p:cNvPr id="7" name="Text 3"/>
          <p:cNvSpPr/>
          <p:nvPr/>
        </p:nvSpPr>
        <p:spPr>
          <a:xfrm>
            <a:off x="517922" y="912168"/>
            <a:ext cx="3979069" cy="1838846"/>
          </a:xfrm>
          <a:prstGeom prst="roundRect">
            <a:avLst>
              <a:gd name="adj" fmla="val 8288"/>
            </a:avLst>
          </a:prstGeom>
          <a:solidFill>
            <a:srgbClr val="F8FAFC"/>
          </a:solidFill>
          <a:ln w="7144">
            <a:solidFill>
              <a:srgbClr val="E2E8F0"/>
            </a:solidFill>
            <a:prstDash val="solid"/>
          </a:ln>
          <a:effectLst>
            <a:outerShdw sx="100000" sy="100000" kx="0" ky="0" algn="bl" rotWithShape="0" blurRad="28575" dist="9525" dir="5400000">
              <a:srgbClr val="000000">
                <a:alpha val="6000"/>
              </a:srgbClr>
            </a:outerShdw>
          </a:effectLst>
        </p:spPr>
        <p:txBody>
          <a:bodyPr wrap="square" rtlCol="0" anchor="ctr"/>
          <a:lstStyle/>
          <a:p>
            <a:pPr indent="0" marL="0">
              <a:buNone/>
            </a:pPr>
            <a:endParaRPr lang="en-US" dirty="0"/>
          </a:p>
        </p:txBody>
      </p:sp>
      <p:sp>
        <p:nvSpPr>
          <p:cNvPr id="8" name="Text 4"/>
          <p:cNvSpPr/>
          <p:nvPr/>
        </p:nvSpPr>
        <p:spPr>
          <a:xfrm>
            <a:off x="692944" y="1210196"/>
            <a:ext cx="200025" cy="200025"/>
          </a:xfrm>
          <a:prstGeom prst="rect">
            <a:avLst/>
          </a:prstGeom>
          <a:noFill/>
          <a:ln/>
        </p:spPr>
        <p:txBody>
          <a:bodyPr wrap="none" lIns="0" tIns="0" rIns="0" bIns="0" rtlCol="0" anchor="ctr"/>
          <a:lstStyle/>
          <a:p>
            <a:pPr algn="ctr" indent="0" marL="0">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9" name="Text 5"/>
          <p:cNvSpPr/>
          <p:nvPr/>
        </p:nvSpPr>
        <p:spPr>
          <a:xfrm>
            <a:off x="964406" y="1192337"/>
            <a:ext cx="3357563" cy="254603"/>
          </a:xfrm>
          <a:prstGeom prst="rect">
            <a:avLst/>
          </a:prstGeom>
          <a:noFill/>
          <a:ln/>
        </p:spPr>
        <p:txBody>
          <a:bodyPr wrap="none" lIns="0" tIns="0" rIns="0" bIns="0" rtlCol="0" anchor="t"/>
          <a:lstStyle/>
          <a:p>
            <a:pPr algn="l" indent="0" marL="0">
              <a:lnSpc>
                <a:spcPts val="1856"/>
              </a:lnSpc>
              <a:buNone/>
            </a:pPr>
            <a:r>
              <a:rPr lang="en-US" sz="1238" b="1" dirty="0">
                <a:solidFill>
                  <a:srgbClr val="1E293B"/>
                </a:solidFill>
                <a:latin typeface="Carlito" pitchFamily="34" charset="0"/>
                <a:ea typeface="Carlito" pitchFamily="34" charset="-122"/>
                <a:cs typeface="Carlito" pitchFamily="34" charset="-120"/>
              </a:rPr>
              <a:t>Real Web Crawling</a:t>
            </a:r>
            <a:endParaRPr lang="en-US" sz="1238" dirty="0"/>
          </a:p>
        </p:txBody>
      </p:sp>
      <p:sp>
        <p:nvSpPr>
          <p:cNvPr id="10" name="Text 6"/>
          <p:cNvSpPr/>
          <p:nvPr/>
        </p:nvSpPr>
        <p:spPr>
          <a:xfrm>
            <a:off x="692944" y="1528093"/>
            <a:ext cx="3629025" cy="1018051"/>
          </a:xfrm>
          <a:prstGeom prst="rect">
            <a:avLst/>
          </a:prstGeom>
          <a:noFill/>
          <a:ln/>
        </p:spPr>
        <p:txBody>
          <a:bodyPr wrap="square" lIns="0" tIns="0" rIns="0" bIns="0" rtlCol="0" anchor="t"/>
          <a:lstStyle/>
          <a:p>
            <a:pPr algn="l" indent="0" marL="0">
              <a:lnSpc>
                <a:spcPts val="1485"/>
              </a:lnSpc>
              <a:buNone/>
            </a:pPr>
            <a:r>
              <a:rPr lang="en-US" sz="900" dirty="0">
                <a:solidFill>
                  <a:srgbClr val="64748B"/>
                </a:solidFill>
                <a:latin typeface="Carlito" pitchFamily="34" charset="0"/>
                <a:ea typeface="Carlito" pitchFamily="34" charset="-122"/>
                <a:cs typeface="Carlito" pitchFamily="34" charset="-120"/>
              </a:rPr>
              <a:t>LinkForge actually fetches and reads your pages using advanced page reading technology. It starts with your </a:t>
            </a:r>
            <a:pPr algn="l" indent="0" marL="0">
              <a:lnSpc>
                <a:spcPts val="1485"/>
              </a:lnSpc>
              <a:buNone/>
            </a:pPr>
            <a:r>
              <a:rPr lang="en-US" sz="900" b="1" dirty="0">
                <a:solidFill>
                  <a:srgbClr val="1E293B"/>
                </a:solidFill>
                <a:latin typeface="Carlito" pitchFamily="34" charset="0"/>
                <a:ea typeface="Carlito" pitchFamily="34" charset="-122"/>
                <a:cs typeface="Carlito" pitchFamily="34" charset="-120"/>
              </a:rPr>
              <a:t>sitemap.xml</a:t>
            </a:r>
            <a:pPr algn="l" indent="0" marL="0">
              <a:lnSpc>
                <a:spcPts val="1485"/>
              </a:lnSpc>
              <a:buNone/>
            </a:pPr>
            <a:r>
              <a:rPr lang="en-US" sz="900" dirty="0">
                <a:solidFill>
                  <a:srgbClr val="64748B"/>
                </a:solidFill>
                <a:latin typeface="Carlito" pitchFamily="34" charset="0"/>
                <a:ea typeface="Carlito" pitchFamily="34" charset="-122"/>
                <a:cs typeface="Carlito" pitchFamily="34" charset="-120"/>
              </a:rPr>
              <a:t>, discovers every URL, then crawls each page to analyze content, headings, and structure. </a:t>
            </a:r>
            <a:pPr algn="l" indent="0" marL="0">
              <a:lnSpc>
                <a:spcPts val="1485"/>
              </a:lnSpc>
              <a:buNone/>
            </a:pPr>
            <a:r>
              <a:rPr lang="en-US" sz="900" b="1" dirty="0">
                <a:solidFill>
                  <a:srgbClr val="1E293B"/>
                </a:solidFill>
                <a:latin typeface="Carlito" pitchFamily="34" charset="0"/>
                <a:ea typeface="Carlito" pitchFamily="34" charset="-122"/>
                <a:cs typeface="Carlito" pitchFamily="34" charset="-120"/>
              </a:rPr>
              <a:t>No APIs, no plugins</a:t>
            </a:r>
            <a:pPr algn="l" indent="0" marL="0">
              <a:lnSpc>
                <a:spcPts val="1485"/>
              </a:lnSpc>
              <a:buNone/>
            </a:pPr>
            <a:r>
              <a:rPr lang="en-US" sz="900" dirty="0">
                <a:solidFill>
                  <a:srgbClr val="64748B"/>
                </a:solidFill>
                <a:latin typeface="Carlito" pitchFamily="34" charset="0"/>
                <a:ea typeface="Carlito" pitchFamily="34" charset="-122"/>
                <a:cs typeface="Carlito" pitchFamily="34" charset="-120"/>
              </a:rPr>
              <a:t> — just your URL.</a:t>
            </a:r>
            <a:endParaRPr lang="en-US" sz="900" dirty="0"/>
          </a:p>
        </p:txBody>
      </p:sp>
      <p:sp>
        <p:nvSpPr>
          <p:cNvPr id="11" name="Text 7"/>
          <p:cNvSpPr/>
          <p:nvPr/>
        </p:nvSpPr>
        <p:spPr>
          <a:xfrm>
            <a:off x="4647009" y="912168"/>
            <a:ext cx="3979069" cy="1838846"/>
          </a:xfrm>
          <a:prstGeom prst="roundRect">
            <a:avLst>
              <a:gd name="adj" fmla="val 8288"/>
            </a:avLst>
          </a:prstGeom>
          <a:solidFill>
            <a:srgbClr val="F8FAFC"/>
          </a:solidFill>
          <a:ln w="7144">
            <a:solidFill>
              <a:srgbClr val="E2E8F0"/>
            </a:solidFill>
            <a:prstDash val="solid"/>
          </a:ln>
          <a:effectLst>
            <a:outerShdw sx="100000" sy="100000" kx="0" ky="0" algn="bl" rotWithShape="0" blurRad="28575" dist="9525" dir="5400000">
              <a:srgbClr val="000000">
                <a:alpha val="6000"/>
              </a:srgbClr>
            </a:outerShdw>
          </a:effectLst>
        </p:spPr>
        <p:txBody>
          <a:bodyPr wrap="square" rtlCol="0" anchor="ctr"/>
          <a:lstStyle/>
          <a:p>
            <a:pPr indent="0" marL="0">
              <a:buNone/>
            </a:pPr>
            <a:endParaRPr lang="en-US" dirty="0"/>
          </a:p>
        </p:txBody>
      </p:sp>
      <p:sp>
        <p:nvSpPr>
          <p:cNvPr id="12" name="Text 8"/>
          <p:cNvSpPr/>
          <p:nvPr/>
        </p:nvSpPr>
        <p:spPr>
          <a:xfrm>
            <a:off x="4822031" y="1227944"/>
            <a:ext cx="3629025" cy="208312"/>
          </a:xfrm>
          <a:prstGeom prst="rect">
            <a:avLst/>
          </a:prstGeom>
          <a:noFill/>
          <a:ln/>
        </p:spPr>
        <p:txBody>
          <a:bodyPr wrap="none" lIns="0" tIns="0" rIns="0" bIns="0" rtlCol="0" anchor="t"/>
          <a:lstStyle/>
          <a:p>
            <a:pPr algn="l" indent="0" marL="0">
              <a:lnSpc>
                <a:spcPts val="1519"/>
              </a:lnSpc>
              <a:buNone/>
            </a:pPr>
            <a:r>
              <a:rPr lang="en-US" sz="1013" b="1" dirty="0">
                <a:solidFill>
                  <a:srgbClr val="1E293B"/>
                </a:solidFill>
                <a:latin typeface="Carlito" pitchFamily="34" charset="0"/>
                <a:ea typeface="Carlito" pitchFamily="34" charset="-122"/>
                <a:cs typeface="Carlito" pitchFamily="34" charset="-120"/>
              </a:rPr>
              <a:t>Platform Agnostic</a:t>
            </a:r>
            <a:endParaRPr lang="en-US" sz="1013" dirty="0"/>
          </a:p>
        </p:txBody>
      </p:sp>
      <p:sp>
        <p:nvSpPr>
          <p:cNvPr id="13" name="Text 9"/>
          <p:cNvSpPr/>
          <p:nvPr/>
        </p:nvSpPr>
        <p:spPr>
          <a:xfrm>
            <a:off x="4822031" y="1522695"/>
            <a:ext cx="963178" cy="232029"/>
          </a:xfrm>
          <a:prstGeom prst="roundRect">
            <a:avLst>
              <a:gd name="adj" fmla="val 41046798"/>
            </a:avLst>
          </a:prstGeom>
          <a:solidFill>
            <a:srgbClr val="F0FDFA"/>
          </a:solidFill>
          <a:ln/>
        </p:spPr>
        <p:txBody>
          <a:bodyPr wrap="square" rtlCol="0" anchor="ctr"/>
          <a:lstStyle/>
          <a:p>
            <a:pPr indent="0" marL="0">
              <a:buNone/>
            </a:pPr>
            <a:endParaRPr lang="en-US" dirty="0"/>
          </a:p>
        </p:txBody>
      </p:sp>
      <p:sp>
        <p:nvSpPr>
          <p:cNvPr id="14" name="Text 10"/>
          <p:cNvSpPr/>
          <p:nvPr/>
        </p:nvSpPr>
        <p:spPr>
          <a:xfrm>
            <a:off x="5079206" y="1577987"/>
            <a:ext cx="741722" cy="125403"/>
          </a:xfrm>
          <a:prstGeom prst="rect">
            <a:avLst/>
          </a:prstGeom>
          <a:noFill/>
          <a:ln/>
        </p:spPr>
        <p:txBody>
          <a:bodyPr wrap="none" lIns="0" tIns="0" rIns="0" bIns="0" rtlCol="0" anchor="t"/>
          <a:lstStyle/>
          <a:p>
            <a:pPr algn="l" indent="0" marL="0">
              <a:lnSpc>
                <a:spcPts val="1181"/>
              </a:lnSpc>
              <a:buNone/>
            </a:pPr>
            <a:r>
              <a:rPr lang="en-US" sz="800" dirty="0">
                <a:solidFill>
                  <a:srgbClr val="0D9488"/>
                </a:solidFill>
                <a:latin typeface="Carlito" pitchFamily="34" charset="0"/>
                <a:ea typeface="Carlito" pitchFamily="34" charset="-122"/>
                <a:cs typeface="Carlito" pitchFamily="34" charset="-120"/>
              </a:rPr>
              <a:t>WordPress</a:t>
            </a:r>
            <a:endParaRPr lang="en-US" sz="800" dirty="0"/>
          </a:p>
        </p:txBody>
      </p:sp>
      <p:sp>
        <p:nvSpPr>
          <p:cNvPr id="15" name="Text 11"/>
          <p:cNvSpPr/>
          <p:nvPr/>
        </p:nvSpPr>
        <p:spPr>
          <a:xfrm>
            <a:off x="4922044" y="1581559"/>
            <a:ext cx="114300" cy="114300"/>
          </a:xfrm>
          <a:prstGeom prst="rect">
            <a:avLst/>
          </a:prstGeom>
          <a:noFill/>
          <a:ln/>
        </p:spPr>
        <p:txBody>
          <a:bodyPr wrap="none" lIns="0" tIns="0" rIns="0" bIns="0" rtlCol="0" anchor="ctr"/>
          <a:lstStyle/>
          <a:p>
            <a:pPr algn="ctr" indent="0" marL="0">
              <a:buNone/>
            </a:pPr>
            <a:r>
              <a:rPr lang="en-US" sz="1125" dirty="0">
                <a:solidFill>
                  <a:srgbClr val="0D9488"/>
                </a:solidFill>
                <a:latin typeface="Segoe UI Symbol" pitchFamily="34" charset="0"/>
                <a:ea typeface="Segoe UI Symbol" pitchFamily="34" charset="-122"/>
                <a:cs typeface="Segoe UI Symbol" pitchFamily="34" charset="-120"/>
              </a:rPr>
              <a:t>✦</a:t>
            </a:r>
            <a:endParaRPr lang="en-US" sz="1125" dirty="0"/>
          </a:p>
        </p:txBody>
      </p:sp>
      <p:sp>
        <p:nvSpPr>
          <p:cNvPr id="16" name="Text 12"/>
          <p:cNvSpPr/>
          <p:nvPr/>
        </p:nvSpPr>
        <p:spPr>
          <a:xfrm>
            <a:off x="5856647" y="1522695"/>
            <a:ext cx="783803" cy="232029"/>
          </a:xfrm>
          <a:prstGeom prst="roundRect">
            <a:avLst>
              <a:gd name="adj" fmla="val 41046798"/>
            </a:avLst>
          </a:prstGeom>
          <a:solidFill>
            <a:srgbClr val="ECFDF5"/>
          </a:solidFill>
          <a:ln/>
        </p:spPr>
        <p:txBody>
          <a:bodyPr wrap="square" rtlCol="0" anchor="ctr"/>
          <a:lstStyle/>
          <a:p>
            <a:pPr indent="0" marL="0">
              <a:buNone/>
            </a:pPr>
            <a:endParaRPr lang="en-US" dirty="0"/>
          </a:p>
        </p:txBody>
      </p:sp>
      <p:sp>
        <p:nvSpPr>
          <p:cNvPr id="17" name="Text 13"/>
          <p:cNvSpPr/>
          <p:nvPr/>
        </p:nvSpPr>
        <p:spPr>
          <a:xfrm>
            <a:off x="6113822" y="1577987"/>
            <a:ext cx="562347" cy="125403"/>
          </a:xfrm>
          <a:prstGeom prst="rect">
            <a:avLst/>
          </a:prstGeom>
          <a:noFill/>
          <a:ln/>
        </p:spPr>
        <p:txBody>
          <a:bodyPr wrap="none" lIns="0" tIns="0" rIns="0" bIns="0" rtlCol="0" anchor="t"/>
          <a:lstStyle/>
          <a:p>
            <a:pPr algn="l" indent="0" marL="0">
              <a:lnSpc>
                <a:spcPts val="1181"/>
              </a:lnSpc>
              <a:buNone/>
            </a:pPr>
            <a:r>
              <a:rPr lang="en-US" sz="800" dirty="0">
                <a:solidFill>
                  <a:srgbClr val="10B981"/>
                </a:solidFill>
                <a:latin typeface="Carlito" pitchFamily="34" charset="0"/>
                <a:ea typeface="Carlito" pitchFamily="34" charset="-122"/>
                <a:cs typeface="Carlito" pitchFamily="34" charset="-120"/>
              </a:rPr>
              <a:t>Shopify</a:t>
            </a:r>
            <a:endParaRPr lang="en-US" sz="800" dirty="0"/>
          </a:p>
        </p:txBody>
      </p:sp>
      <p:sp>
        <p:nvSpPr>
          <p:cNvPr id="18" name="Text 14"/>
          <p:cNvSpPr/>
          <p:nvPr/>
        </p:nvSpPr>
        <p:spPr>
          <a:xfrm>
            <a:off x="5956660" y="1581559"/>
            <a:ext cx="114300" cy="114300"/>
          </a:xfrm>
          <a:prstGeom prst="rect">
            <a:avLst/>
          </a:prstGeom>
          <a:noFill/>
          <a:ln/>
        </p:spPr>
        <p:txBody>
          <a:bodyPr wrap="none" lIns="0" tIns="0" rIns="0" bIns="0" rtlCol="0" anchor="ctr"/>
          <a:lstStyle/>
          <a:p>
            <a:pPr algn="ctr" indent="0" marL="0">
              <a:buNone/>
            </a:pPr>
            <a:r>
              <a:rPr lang="en-US" sz="1125" dirty="0">
                <a:solidFill>
                  <a:srgbClr val="10B981"/>
                </a:solidFill>
                <a:latin typeface="Segoe UI Symbol" pitchFamily="34" charset="0"/>
                <a:ea typeface="Segoe UI Symbol" pitchFamily="34" charset="-122"/>
                <a:cs typeface="Segoe UI Symbol" pitchFamily="34" charset="-120"/>
              </a:rPr>
              <a:t>🛒</a:t>
            </a:r>
            <a:endParaRPr lang="en-US" sz="1125" dirty="0"/>
          </a:p>
        </p:txBody>
      </p:sp>
      <p:sp>
        <p:nvSpPr>
          <p:cNvPr id="19" name="Text 15"/>
          <p:cNvSpPr/>
          <p:nvPr/>
        </p:nvSpPr>
        <p:spPr>
          <a:xfrm>
            <a:off x="6711888" y="1522695"/>
            <a:ext cx="838609" cy="232029"/>
          </a:xfrm>
          <a:prstGeom prst="roundRect">
            <a:avLst>
              <a:gd name="adj" fmla="val 41046798"/>
            </a:avLst>
          </a:prstGeom>
          <a:solidFill>
            <a:srgbClr val="FFF7ED"/>
          </a:solidFill>
          <a:ln/>
        </p:spPr>
        <p:txBody>
          <a:bodyPr wrap="square" rtlCol="0" anchor="ctr"/>
          <a:lstStyle/>
          <a:p>
            <a:pPr indent="0" marL="0">
              <a:buNone/>
            </a:pPr>
            <a:endParaRPr lang="en-US" dirty="0"/>
          </a:p>
        </p:txBody>
      </p:sp>
      <p:sp>
        <p:nvSpPr>
          <p:cNvPr id="20" name="Text 16"/>
          <p:cNvSpPr/>
          <p:nvPr/>
        </p:nvSpPr>
        <p:spPr>
          <a:xfrm>
            <a:off x="6969063" y="1577987"/>
            <a:ext cx="617153" cy="125403"/>
          </a:xfrm>
          <a:prstGeom prst="rect">
            <a:avLst/>
          </a:prstGeom>
          <a:noFill/>
          <a:ln/>
        </p:spPr>
        <p:txBody>
          <a:bodyPr wrap="none" lIns="0" tIns="0" rIns="0" bIns="0" rtlCol="0" anchor="t"/>
          <a:lstStyle/>
          <a:p>
            <a:pPr algn="l" indent="0" marL="0">
              <a:lnSpc>
                <a:spcPts val="1181"/>
              </a:lnSpc>
              <a:buNone/>
            </a:pPr>
            <a:r>
              <a:rPr lang="en-US" sz="800" dirty="0">
                <a:solidFill>
                  <a:srgbClr val="F97316"/>
                </a:solidFill>
                <a:latin typeface="Carlito" pitchFamily="34" charset="0"/>
                <a:ea typeface="Carlito" pitchFamily="34" charset="-122"/>
                <a:cs typeface="Carlito" pitchFamily="34" charset="-120"/>
              </a:rPr>
              <a:t>Webflow</a:t>
            </a:r>
            <a:endParaRPr lang="en-US" sz="800" dirty="0"/>
          </a:p>
        </p:txBody>
      </p:sp>
      <p:sp>
        <p:nvSpPr>
          <p:cNvPr id="21" name="Text 17"/>
          <p:cNvSpPr/>
          <p:nvPr/>
        </p:nvSpPr>
        <p:spPr>
          <a:xfrm>
            <a:off x="6811900" y="1581559"/>
            <a:ext cx="114300" cy="114300"/>
          </a:xfrm>
          <a:prstGeom prst="rect">
            <a:avLst/>
          </a:prstGeom>
          <a:noFill/>
          <a:ln/>
        </p:spPr>
        <p:txBody>
          <a:bodyPr wrap="none" lIns="0" tIns="0" rIns="0" bIns="0" rtlCol="0" anchor="ctr"/>
          <a:lstStyle/>
          <a:p>
            <a:pPr algn="ctr" indent="0" marL="0">
              <a:buNone/>
            </a:pPr>
            <a:r>
              <a:rPr lang="en-US" sz="1125" dirty="0">
                <a:solidFill>
                  <a:srgbClr val="F97316"/>
                </a:solidFill>
                <a:latin typeface="Segoe UI Symbol" pitchFamily="34" charset="0"/>
                <a:ea typeface="Segoe UI Symbol" pitchFamily="34" charset="-122"/>
                <a:cs typeface="Segoe UI Symbol" pitchFamily="34" charset="-120"/>
              </a:rPr>
              <a:t>✦</a:t>
            </a:r>
            <a:endParaRPr lang="en-US" sz="1125" dirty="0"/>
          </a:p>
        </p:txBody>
      </p:sp>
      <p:sp>
        <p:nvSpPr>
          <p:cNvPr id="22" name="Text 18"/>
          <p:cNvSpPr/>
          <p:nvPr/>
        </p:nvSpPr>
        <p:spPr>
          <a:xfrm>
            <a:off x="7621935" y="1522695"/>
            <a:ext cx="686581" cy="232029"/>
          </a:xfrm>
          <a:prstGeom prst="roundRect">
            <a:avLst>
              <a:gd name="adj" fmla="val 41046798"/>
            </a:avLst>
          </a:prstGeom>
          <a:solidFill>
            <a:srgbClr val="FAF5FF"/>
          </a:solidFill>
          <a:ln/>
        </p:spPr>
        <p:txBody>
          <a:bodyPr wrap="square" rtlCol="0" anchor="ctr"/>
          <a:lstStyle/>
          <a:p>
            <a:pPr indent="0" marL="0">
              <a:buNone/>
            </a:pPr>
            <a:endParaRPr lang="en-US" dirty="0"/>
          </a:p>
        </p:txBody>
      </p:sp>
      <p:sp>
        <p:nvSpPr>
          <p:cNvPr id="23" name="Text 19"/>
          <p:cNvSpPr/>
          <p:nvPr/>
        </p:nvSpPr>
        <p:spPr>
          <a:xfrm>
            <a:off x="7879110" y="1577987"/>
            <a:ext cx="571946" cy="125403"/>
          </a:xfrm>
          <a:prstGeom prst="rect">
            <a:avLst/>
          </a:prstGeom>
          <a:noFill/>
          <a:ln/>
        </p:spPr>
        <p:txBody>
          <a:bodyPr wrap="none" lIns="0" tIns="0" rIns="0" bIns="0" rtlCol="0" anchor="t"/>
          <a:lstStyle/>
          <a:p>
            <a:pPr algn="l" indent="0" marL="0">
              <a:lnSpc>
                <a:spcPts val="1181"/>
              </a:lnSpc>
              <a:buNone/>
            </a:pPr>
            <a:r>
              <a:rPr lang="en-US" sz="800" dirty="0">
                <a:solidFill>
                  <a:srgbClr val="A855F7"/>
                </a:solidFill>
                <a:latin typeface="Carlito" pitchFamily="34" charset="0"/>
                <a:ea typeface="Carlito" pitchFamily="34" charset="-122"/>
                <a:cs typeface="Carlito" pitchFamily="34" charset="-120"/>
              </a:rPr>
              <a:t>Ghost</a:t>
            </a:r>
            <a:endParaRPr lang="en-US" sz="800" dirty="0"/>
          </a:p>
        </p:txBody>
      </p:sp>
      <p:sp>
        <p:nvSpPr>
          <p:cNvPr id="24" name="Text 20"/>
          <p:cNvSpPr/>
          <p:nvPr/>
        </p:nvSpPr>
        <p:spPr>
          <a:xfrm>
            <a:off x="7721947" y="1581559"/>
            <a:ext cx="114300" cy="114300"/>
          </a:xfrm>
          <a:prstGeom prst="rect">
            <a:avLst/>
          </a:prstGeom>
          <a:noFill/>
          <a:ln/>
        </p:spPr>
        <p:txBody>
          <a:bodyPr wrap="none" lIns="0" tIns="0" rIns="0" bIns="0" rtlCol="0" anchor="ctr"/>
          <a:lstStyle/>
          <a:p>
            <a:pPr algn="ctr" indent="0" marL="0">
              <a:buNone/>
            </a:pPr>
            <a:r>
              <a:rPr lang="en-US" sz="1125" dirty="0">
                <a:solidFill>
                  <a:srgbClr val="A855F7"/>
                </a:solidFill>
                <a:latin typeface="Segoe UI Symbol" pitchFamily="34" charset="0"/>
                <a:ea typeface="Segoe UI Symbol" pitchFamily="34" charset="-122"/>
                <a:cs typeface="Segoe UI Symbol" pitchFamily="34" charset="-120"/>
              </a:rPr>
              <a:t>▤</a:t>
            </a:r>
            <a:endParaRPr lang="en-US" sz="1125" dirty="0"/>
          </a:p>
        </p:txBody>
      </p:sp>
      <p:sp>
        <p:nvSpPr>
          <p:cNvPr id="25" name="Text 21"/>
          <p:cNvSpPr/>
          <p:nvPr/>
        </p:nvSpPr>
        <p:spPr>
          <a:xfrm>
            <a:off x="4799171" y="1800930"/>
            <a:ext cx="842137" cy="247059"/>
          </a:xfrm>
          <a:prstGeom prst="roundRect">
            <a:avLst>
              <a:gd name="adj" fmla="val 38549689"/>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26" name="Text 22"/>
          <p:cNvSpPr/>
          <p:nvPr/>
        </p:nvSpPr>
        <p:spPr>
          <a:xfrm>
            <a:off x="5086350" y="1863737"/>
            <a:ext cx="734578" cy="125403"/>
          </a:xfrm>
          <a:prstGeom prst="rect">
            <a:avLst/>
          </a:prstGeom>
          <a:noFill/>
          <a:ln/>
        </p:spPr>
        <p:txBody>
          <a:bodyPr wrap="none" lIns="0" tIns="0" rIns="0" bIns="0" rtlCol="0" anchor="t"/>
          <a:lstStyle/>
          <a:p>
            <a:pPr algn="l" indent="0" marL="0">
              <a:lnSpc>
                <a:spcPts val="1181"/>
              </a:lnSpc>
              <a:buNone/>
            </a:pPr>
            <a:r>
              <a:rPr lang="en-US" sz="800" dirty="0">
                <a:solidFill>
                  <a:srgbClr val="64748B"/>
                </a:solidFill>
                <a:latin typeface="Carlito" pitchFamily="34" charset="0"/>
                <a:ea typeface="Carlito" pitchFamily="34" charset="-122"/>
                <a:cs typeface="Carlito" pitchFamily="34" charset="-120"/>
              </a:rPr>
              <a:t>Custom</a:t>
            </a:r>
            <a:endParaRPr lang="en-US" sz="800" dirty="0"/>
          </a:p>
        </p:txBody>
      </p:sp>
      <p:sp>
        <p:nvSpPr>
          <p:cNvPr id="27" name="Text 23"/>
          <p:cNvSpPr/>
          <p:nvPr/>
        </p:nvSpPr>
        <p:spPr>
          <a:xfrm>
            <a:off x="4929188" y="1867309"/>
            <a:ext cx="114300" cy="114300"/>
          </a:xfrm>
          <a:prstGeom prst="rect">
            <a:avLst/>
          </a:prstGeom>
          <a:noFill/>
          <a:ln/>
        </p:spPr>
        <p:txBody>
          <a:bodyPr wrap="none" lIns="0" tIns="0" rIns="0" bIns="0" rtlCol="0" anchor="ctr"/>
          <a:lstStyle/>
          <a:p>
            <a:pPr algn="ctr" indent="0" marL="0">
              <a:buNone/>
            </a:pPr>
            <a:r>
              <a:rPr lang="en-US" sz="1125" dirty="0">
                <a:solidFill>
                  <a:srgbClr val="64748B"/>
                </a:solidFill>
                <a:latin typeface="Segoe UI Symbol" pitchFamily="34" charset="0"/>
                <a:ea typeface="Segoe UI Symbol" pitchFamily="34" charset="-122"/>
                <a:cs typeface="Segoe UI Symbol" pitchFamily="34" charset="-120"/>
              </a:rPr>
              <a:t>⚒</a:t>
            </a:r>
            <a:endParaRPr lang="en-US" sz="1125" dirty="0"/>
          </a:p>
        </p:txBody>
      </p:sp>
      <p:sp>
        <p:nvSpPr>
          <p:cNvPr id="28" name="Text 24"/>
          <p:cNvSpPr/>
          <p:nvPr/>
        </p:nvSpPr>
        <p:spPr>
          <a:xfrm>
            <a:off x="4822031" y="2135200"/>
            <a:ext cx="3629025" cy="329184"/>
          </a:xfrm>
          <a:prstGeom prst="rect">
            <a:avLst/>
          </a:prstGeom>
          <a:noFill/>
          <a:ln/>
        </p:spPr>
        <p:txBody>
          <a:bodyPr wrap="square" lIns="0" tIns="0" rIns="0" bIns="0" rtlCol="0" anchor="t"/>
          <a:lstStyle/>
          <a:p>
            <a:pPr algn="l" indent="0" marL="0">
              <a:lnSpc>
                <a:spcPts val="1181"/>
              </a:lnSpc>
              <a:buNone/>
            </a:pPr>
            <a:r>
              <a:rPr lang="en-US" sz="800" dirty="0">
                <a:solidFill>
                  <a:srgbClr val="64748B"/>
                </a:solidFill>
                <a:latin typeface="Carlito" pitchFamily="34" charset="0"/>
                <a:ea typeface="Carlito" pitchFamily="34" charset="-122"/>
                <a:cs typeface="Carlito" pitchFamily="34" charset="-120"/>
              </a:rPr>
              <a:t>Works out of the box with any website — no plugins, extensions, or API keys required.</a:t>
            </a:r>
            <a:endParaRPr lang="en-US" sz="800" dirty="0"/>
          </a:p>
        </p:txBody>
      </p:sp>
      <p:sp>
        <p:nvSpPr>
          <p:cNvPr id="29" name="Text 25"/>
          <p:cNvSpPr/>
          <p:nvPr/>
        </p:nvSpPr>
        <p:spPr>
          <a:xfrm>
            <a:off x="517922" y="2901032"/>
            <a:ext cx="3979069" cy="1838846"/>
          </a:xfrm>
          <a:prstGeom prst="roundRect">
            <a:avLst>
              <a:gd name="adj" fmla="val 8288"/>
            </a:avLst>
          </a:prstGeom>
          <a:solidFill>
            <a:srgbClr val="F8FAFC"/>
          </a:solidFill>
          <a:ln w="7144">
            <a:solidFill>
              <a:srgbClr val="E2E8F0"/>
            </a:solidFill>
            <a:prstDash val="solid"/>
          </a:ln>
          <a:effectLst>
            <a:outerShdw sx="100000" sy="100000" kx="0" ky="0" algn="bl" rotWithShape="0" blurRad="28575" dist="9525" dir="5400000">
              <a:srgbClr val="000000">
                <a:alpha val="6000"/>
              </a:srgbClr>
            </a:outerShdw>
          </a:effectLst>
        </p:spPr>
        <p:txBody>
          <a:bodyPr wrap="square" rtlCol="0" anchor="ctr"/>
          <a:lstStyle/>
          <a:p>
            <a:pPr indent="0" marL="0">
              <a:buNone/>
            </a:pPr>
            <a:endParaRPr lang="en-US" dirty="0"/>
          </a:p>
        </p:txBody>
      </p:sp>
      <p:sp>
        <p:nvSpPr>
          <p:cNvPr id="30" name="Text 26"/>
          <p:cNvSpPr/>
          <p:nvPr/>
        </p:nvSpPr>
        <p:spPr>
          <a:xfrm>
            <a:off x="692944" y="3513274"/>
            <a:ext cx="200025" cy="200025"/>
          </a:xfrm>
          <a:prstGeom prst="rect">
            <a:avLst/>
          </a:prstGeom>
          <a:noFill/>
          <a:ln/>
        </p:spPr>
        <p:txBody>
          <a:bodyPr wrap="none" lIns="0" tIns="0" rIns="0" bIns="0" rtlCol="0" anchor="ctr"/>
          <a:lstStyle/>
          <a:p>
            <a:pPr algn="ctr" indent="0" marL="0">
              <a:buNone/>
            </a:pPr>
            <a:r>
              <a:rPr lang="en-US" sz="1969" dirty="0">
                <a:solidFill>
                  <a:srgbClr val="F59E0B"/>
                </a:solidFill>
                <a:latin typeface="Segoe UI Symbol" pitchFamily="34" charset="0"/>
                <a:ea typeface="Segoe UI Symbol" pitchFamily="34" charset="-122"/>
                <a:cs typeface="Segoe UI Symbol" pitchFamily="34" charset="-120"/>
              </a:rPr>
              <a:t>⚡</a:t>
            </a:r>
            <a:endParaRPr lang="en-US" sz="1969" dirty="0"/>
          </a:p>
        </p:txBody>
      </p:sp>
      <p:sp>
        <p:nvSpPr>
          <p:cNvPr id="31" name="Text 27"/>
          <p:cNvSpPr/>
          <p:nvPr/>
        </p:nvSpPr>
        <p:spPr>
          <a:xfrm>
            <a:off x="964406" y="3506130"/>
            <a:ext cx="3357563" cy="231458"/>
          </a:xfrm>
          <a:prstGeom prst="rect">
            <a:avLst/>
          </a:prstGeom>
          <a:noFill/>
          <a:ln/>
        </p:spPr>
        <p:txBody>
          <a:bodyPr wrap="none" lIns="0" tIns="0" rIns="0" bIns="0" rtlCol="0" anchor="t"/>
          <a:lstStyle/>
          <a:p>
            <a:pPr algn="l" indent="0" marL="0">
              <a:lnSpc>
                <a:spcPts val="1688"/>
              </a:lnSpc>
              <a:buNone/>
            </a:pPr>
            <a:r>
              <a:rPr lang="en-US" sz="1125" b="1" dirty="0">
                <a:solidFill>
                  <a:srgbClr val="1E293B"/>
                </a:solidFill>
                <a:latin typeface="Carlito" pitchFamily="34" charset="0"/>
                <a:ea typeface="Carlito" pitchFamily="34" charset="-122"/>
                <a:cs typeface="Carlito" pitchFamily="34" charset="-120"/>
              </a:rPr>
              <a:t>Concurrent Crawling</a:t>
            </a:r>
            <a:endParaRPr lang="en-US" sz="1125" dirty="0"/>
          </a:p>
        </p:txBody>
      </p:sp>
      <p:sp>
        <p:nvSpPr>
          <p:cNvPr id="32" name="Text 28"/>
          <p:cNvSpPr/>
          <p:nvPr/>
        </p:nvSpPr>
        <p:spPr>
          <a:xfrm>
            <a:off x="692944" y="3791880"/>
            <a:ext cx="3629025" cy="370332"/>
          </a:xfrm>
          <a:prstGeom prst="rect">
            <a:avLst/>
          </a:prstGeom>
          <a:noFill/>
          <a:ln/>
        </p:spPr>
        <p:txBody>
          <a:bodyPr wrap="square" lIns="0" tIns="0" rIns="0" bIns="0" rtlCol="0" anchor="t"/>
          <a:lstStyle/>
          <a:p>
            <a:pPr algn="l" indent="0" marL="0">
              <a:lnSpc>
                <a:spcPts val="1350"/>
              </a:lnSpc>
              <a:buNone/>
            </a:pPr>
            <a:r>
              <a:rPr lang="en-US" sz="844" dirty="0">
                <a:solidFill>
                  <a:srgbClr val="64748B"/>
                </a:solidFill>
                <a:latin typeface="Carlito" pitchFamily="34" charset="0"/>
                <a:ea typeface="Carlito" pitchFamily="34" charset="-122"/>
                <a:cs typeface="Carlito" pitchFamily="34" charset="-120"/>
              </a:rPr>
              <a:t>Crawls up to </a:t>
            </a:r>
            <a:pPr algn="l" indent="0" marL="0">
              <a:lnSpc>
                <a:spcPts val="1350"/>
              </a:lnSpc>
              <a:buNone/>
            </a:pPr>
            <a:r>
              <a:rPr lang="en-US" sz="844" b="1" dirty="0">
                <a:solidFill>
                  <a:srgbClr val="F97316"/>
                </a:solidFill>
                <a:latin typeface="Liberation Sans Narrow" pitchFamily="34" charset="0"/>
                <a:ea typeface="Liberation Sans Narrow" pitchFamily="34" charset="-122"/>
                <a:cs typeface="Liberation Sans Narrow" pitchFamily="34" charset="-120"/>
              </a:rPr>
              <a:t>3 pages</a:t>
            </a:r>
            <a:pPr algn="l" indent="0" marL="0">
              <a:lnSpc>
                <a:spcPts val="1350"/>
              </a:lnSpc>
              <a:buNone/>
            </a:pPr>
            <a:r>
              <a:rPr lang="en-US" sz="844" dirty="0">
                <a:solidFill>
                  <a:srgbClr val="64748B"/>
                </a:solidFill>
                <a:latin typeface="Carlito" pitchFamily="34" charset="0"/>
                <a:ea typeface="Carlito" pitchFamily="34" charset="-122"/>
                <a:cs typeface="Carlito" pitchFamily="34" charset="-120"/>
              </a:rPr>
              <a:t> simultaneously for fast results, even on large sites with hundreds of URLs.</a:t>
            </a:r>
            <a:endParaRPr lang="en-US" sz="844" dirty="0"/>
          </a:p>
        </p:txBody>
      </p:sp>
      <p:sp>
        <p:nvSpPr>
          <p:cNvPr id="33" name="Text 29"/>
          <p:cNvSpPr/>
          <p:nvPr/>
        </p:nvSpPr>
        <p:spPr>
          <a:xfrm>
            <a:off x="4647009" y="2901032"/>
            <a:ext cx="3979069" cy="1838846"/>
          </a:xfrm>
          <a:prstGeom prst="roundRect">
            <a:avLst>
              <a:gd name="adj" fmla="val 8288"/>
            </a:avLst>
          </a:prstGeom>
          <a:solidFill>
            <a:srgbClr val="F8FAFC"/>
          </a:solidFill>
          <a:ln w="7144">
            <a:solidFill>
              <a:srgbClr val="E2E8F0"/>
            </a:solidFill>
            <a:prstDash val="solid"/>
          </a:ln>
          <a:effectLst>
            <a:outerShdw sx="100000" sy="100000" kx="0" ky="0" algn="bl" rotWithShape="0" blurRad="28575" dist="9525" dir="5400000">
              <a:srgbClr val="000000">
                <a:alpha val="6000"/>
              </a:srgbClr>
            </a:outerShdw>
          </a:effectLst>
        </p:spPr>
        <p:txBody>
          <a:bodyPr wrap="square" rtlCol="0" anchor="ctr"/>
          <a:lstStyle/>
          <a:p>
            <a:pPr indent="0" marL="0">
              <a:buNone/>
            </a:pPr>
            <a:endParaRPr lang="en-US" dirty="0"/>
          </a:p>
        </p:txBody>
      </p:sp>
      <p:sp>
        <p:nvSpPr>
          <p:cNvPr id="34" name="Text 30"/>
          <p:cNvSpPr/>
          <p:nvPr/>
        </p:nvSpPr>
        <p:spPr>
          <a:xfrm>
            <a:off x="4822031" y="3513274"/>
            <a:ext cx="200025" cy="200025"/>
          </a:xfrm>
          <a:prstGeom prst="rect">
            <a:avLst/>
          </a:prstGeom>
          <a:noFill/>
          <a:ln/>
        </p:spPr>
        <p:txBody>
          <a:bodyPr wrap="none" lIns="0" tIns="0" rIns="0" bIns="0" rtlCol="0" anchor="ctr"/>
          <a:lstStyle/>
          <a:p>
            <a:pPr algn="ctr" indent="0" marL="0">
              <a:buNone/>
            </a:pPr>
            <a:r>
              <a:rPr lang="en-US" sz="1969" dirty="0">
                <a:solidFill>
                  <a:srgbClr val="0D9488"/>
                </a:solidFill>
                <a:latin typeface="Segoe UI Symbol" pitchFamily="34" charset="0"/>
                <a:ea typeface="Segoe UI Symbol" pitchFamily="34" charset="-122"/>
                <a:cs typeface="Segoe UI Symbol" pitchFamily="34" charset="-120"/>
              </a:rPr>
              <a:t>✦</a:t>
            </a:r>
            <a:endParaRPr lang="en-US" sz="1969" dirty="0"/>
          </a:p>
        </p:txBody>
      </p:sp>
      <p:sp>
        <p:nvSpPr>
          <p:cNvPr id="35" name="Text 31"/>
          <p:cNvSpPr/>
          <p:nvPr/>
        </p:nvSpPr>
        <p:spPr>
          <a:xfrm>
            <a:off x="5093494" y="3506130"/>
            <a:ext cx="3357563" cy="231458"/>
          </a:xfrm>
          <a:prstGeom prst="rect">
            <a:avLst/>
          </a:prstGeom>
          <a:noFill/>
          <a:ln/>
        </p:spPr>
        <p:txBody>
          <a:bodyPr wrap="none" lIns="0" tIns="0" rIns="0" bIns="0" rtlCol="0" anchor="t"/>
          <a:lstStyle/>
          <a:p>
            <a:pPr algn="l" indent="0" marL="0">
              <a:lnSpc>
                <a:spcPts val="1688"/>
              </a:lnSpc>
              <a:buNone/>
            </a:pPr>
            <a:r>
              <a:rPr lang="en-US" sz="1125" b="1" dirty="0">
                <a:solidFill>
                  <a:srgbClr val="1E293B"/>
                </a:solidFill>
                <a:latin typeface="Carlito" pitchFamily="34" charset="0"/>
                <a:ea typeface="Carlito" pitchFamily="34" charset="-122"/>
                <a:cs typeface="Carlito" pitchFamily="34" charset="-120"/>
              </a:rPr>
              <a:t>Auto-Discovery</a:t>
            </a:r>
            <a:endParaRPr lang="en-US" sz="1125" dirty="0"/>
          </a:p>
        </p:txBody>
      </p:sp>
      <p:sp>
        <p:nvSpPr>
          <p:cNvPr id="36" name="Text 32"/>
          <p:cNvSpPr/>
          <p:nvPr/>
        </p:nvSpPr>
        <p:spPr>
          <a:xfrm>
            <a:off x="4822031" y="3791880"/>
            <a:ext cx="3629025" cy="370332"/>
          </a:xfrm>
          <a:prstGeom prst="rect">
            <a:avLst/>
          </a:prstGeom>
          <a:noFill/>
          <a:ln/>
        </p:spPr>
        <p:txBody>
          <a:bodyPr wrap="square" lIns="0" tIns="0" rIns="0" bIns="0" rtlCol="0" anchor="t"/>
          <a:lstStyle/>
          <a:p>
            <a:pPr algn="l" indent="0" marL="0">
              <a:lnSpc>
                <a:spcPts val="1350"/>
              </a:lnSpc>
              <a:buNone/>
            </a:pPr>
            <a:r>
              <a:rPr lang="en-US" sz="844" dirty="0">
                <a:solidFill>
                  <a:srgbClr val="64748B"/>
                </a:solidFill>
                <a:latin typeface="Carlito" pitchFamily="34" charset="0"/>
                <a:ea typeface="Carlito" pitchFamily="34" charset="-122"/>
                <a:cs typeface="Carlito" pitchFamily="34" charset="-120"/>
              </a:rPr>
              <a:t>Automatically finds pages through </a:t>
            </a:r>
            <a:pPr algn="l" indent="0" marL="0">
              <a:lnSpc>
                <a:spcPts val="1350"/>
              </a:lnSpc>
              <a:buNone/>
            </a:pPr>
            <a:r>
              <a:rPr lang="en-US" sz="844" b="1" dirty="0">
                <a:solidFill>
                  <a:srgbClr val="0D9488"/>
                </a:solidFill>
                <a:latin typeface="Carlito" pitchFamily="34" charset="0"/>
                <a:ea typeface="Carlito" pitchFamily="34" charset="-122"/>
                <a:cs typeface="Carlito" pitchFamily="34" charset="-120"/>
              </a:rPr>
              <a:t>sitemap.xml</a:t>
            </a:r>
            <a:pPr algn="l" indent="0" marL="0">
              <a:lnSpc>
                <a:spcPts val="1350"/>
              </a:lnSpc>
              <a:buNone/>
            </a:pPr>
            <a:r>
              <a:rPr lang="en-US" sz="844" dirty="0">
                <a:solidFill>
                  <a:srgbClr val="64748B"/>
                </a:solidFill>
                <a:latin typeface="Carlito" pitchFamily="34" charset="0"/>
                <a:ea typeface="Carlito" pitchFamily="34" charset="-122"/>
                <a:cs typeface="Carlito" pitchFamily="34" charset="-120"/>
              </a:rPr>
              <a:t> and homepage link analysis. No manual URL entry needed.</a:t>
            </a:r>
            <a:endParaRPr lang="en-US" sz="84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0" y="3143250"/>
            <a:ext cx="2714625" cy="2714625"/>
          </a:xfrm>
          <a:prstGeom prst="rect">
            <a:avLst/>
          </a:prstGeom>
        </p:spPr>
      </p:pic>
      <p:sp>
        <p:nvSpPr>
          <p:cNvPr id="3" name="Text 0"/>
          <p:cNvSpPr/>
          <p:nvPr/>
        </p:nvSpPr>
        <p:spPr>
          <a:xfrm>
            <a:off x="6858000" y="3143250"/>
            <a:ext cx="2714625" cy="2714625"/>
          </a:xfrm>
          <a:prstGeom prst="ellipse">
            <a:avLst/>
          </a:prstGeom>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514350" y="342900"/>
            <a:ext cx="8629650" cy="333202"/>
          </a:xfrm>
          <a:prstGeom prst="rect">
            <a:avLst/>
          </a:prstGeom>
          <a:noFill/>
          <a:ln/>
        </p:spPr>
        <p:txBody>
          <a:bodyPr wrap="square" lIns="0" tIns="0" rIns="0" bIns="0" rtlCol="0" anchor="t"/>
          <a:lstStyle/>
          <a:p>
            <a:pPr algn="l" indent="0" marL="0">
              <a:lnSpc>
                <a:spcPts val="2430"/>
              </a:lnSpc>
              <a:buNone/>
            </a:pPr>
            <a:r>
              <a:rPr lang="en-US" sz="2025" b="1" dirty="0">
                <a:solidFill>
                  <a:srgbClr val="1E293B"/>
                </a:solidFill>
                <a:latin typeface="Carlito" pitchFamily="34" charset="0"/>
                <a:ea typeface="Carlito" pitchFamily="34" charset="-122"/>
                <a:cs typeface="Carlito" pitchFamily="34" charset="-120"/>
              </a:rPr>
              <a:t>AI-Powered </a:t>
            </a:r>
            <a:pPr algn="l" indent="0" marL="0">
              <a:lnSpc>
                <a:spcPts val="2430"/>
              </a:lnSpc>
              <a:buNone/>
            </a:pPr>
            <a:r>
              <a:rPr lang="en-US" sz="2025" b="1" dirty="0">
                <a:solidFill>
                  <a:srgbClr val="F97316"/>
                </a:solidFill>
                <a:latin typeface="Carlito" pitchFamily="34" charset="0"/>
                <a:ea typeface="Carlito" pitchFamily="34" charset="-122"/>
                <a:cs typeface="Carlito" pitchFamily="34" charset="-120"/>
              </a:rPr>
              <a:t>Link Suggestions</a:t>
            </a:r>
            <a:endParaRPr lang="en-US" sz="2025" dirty="0"/>
          </a:p>
        </p:txBody>
      </p:sp>
      <p:sp>
        <p:nvSpPr>
          <p:cNvPr id="5" name="Text 2"/>
          <p:cNvSpPr/>
          <p:nvPr/>
        </p:nvSpPr>
        <p:spPr>
          <a:xfrm>
            <a:off x="514350" y="1639937"/>
            <a:ext cx="4463393" cy="419517"/>
          </a:xfrm>
          <a:prstGeom prst="rect">
            <a:avLst/>
          </a:prstGeom>
          <a:noFill/>
          <a:ln/>
        </p:spPr>
        <p:txBody>
          <a:bodyPr wrap="square" lIns="0" tIns="0" rIns="0" bIns="0" rtlCol="0" anchor="t"/>
          <a:lstStyle/>
          <a:p>
            <a:pPr algn="l" indent="0" marL="0">
              <a:lnSpc>
                <a:spcPts val="1530"/>
              </a:lnSpc>
              <a:buNone/>
            </a:pPr>
            <a:r>
              <a:rPr lang="en-US" sz="956" dirty="0">
                <a:solidFill>
                  <a:srgbClr val="64748B"/>
                </a:solidFill>
                <a:latin typeface="Carlito" pitchFamily="34" charset="0"/>
                <a:ea typeface="Carlito" pitchFamily="34" charset="-122"/>
                <a:cs typeface="Carlito" pitchFamily="34" charset="-120"/>
              </a:rPr>
              <a:t>LinkForge uses advanced LLM technology to generate natural, contextually relevant internal link suggestions.</a:t>
            </a:r>
            <a:endParaRPr lang="en-US" sz="956" dirty="0"/>
          </a:p>
        </p:txBody>
      </p:sp>
      <p:sp>
        <p:nvSpPr>
          <p:cNvPr id="6" name="Text 3"/>
          <p:cNvSpPr/>
          <p:nvPr/>
        </p:nvSpPr>
        <p:spPr>
          <a:xfrm>
            <a:off x="514350" y="2142679"/>
            <a:ext cx="4463393" cy="1000125"/>
          </a:xfrm>
          <a:prstGeom prst="roundRect">
            <a:avLst>
              <a:gd name="adj" fmla="val 15238"/>
            </a:avLst>
          </a:prstGeom>
          <a:solidFill>
            <a:srgbClr val="0F172A"/>
          </a:solidFill>
          <a:ln/>
        </p:spPr>
        <p:txBody>
          <a:bodyPr wrap="square" rtlCol="0" anchor="ctr"/>
          <a:lstStyle/>
          <a:p>
            <a:pPr indent="0" marL="0">
              <a:buNone/>
            </a:pPr>
            <a:endParaRPr lang="en-US" dirty="0"/>
          </a:p>
        </p:txBody>
      </p:sp>
      <p:sp>
        <p:nvSpPr>
          <p:cNvPr id="7" name="Text 4"/>
          <p:cNvSpPr/>
          <p:nvPr/>
        </p:nvSpPr>
        <p:spPr>
          <a:xfrm>
            <a:off x="685800" y="2301627"/>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8" name="Text 5"/>
          <p:cNvSpPr/>
          <p:nvPr/>
        </p:nvSpPr>
        <p:spPr>
          <a:xfrm>
            <a:off x="871538" y="2290911"/>
            <a:ext cx="482917" cy="164592"/>
          </a:xfrm>
          <a:prstGeom prst="rect">
            <a:avLst/>
          </a:prstGeom>
          <a:noFill/>
          <a:ln/>
        </p:spPr>
        <p:txBody>
          <a:bodyPr wrap="none" lIns="0" tIns="0" rIns="0" bIns="0" rtlCol="0" anchor="t"/>
          <a:lstStyle/>
          <a:p>
            <a:pPr algn="l" indent="0" marL="0">
              <a:lnSpc>
                <a:spcPts val="1181"/>
              </a:lnSpc>
              <a:buNone/>
            </a:pPr>
            <a:r>
              <a:rPr lang="en-US" sz="800" dirty="0">
                <a:solidFill>
                  <a:srgbClr val="94A3B8"/>
                </a:solidFill>
                <a:latin typeface="Carlito" pitchFamily="34" charset="0"/>
                <a:ea typeface="Carlito" pitchFamily="34" charset="-122"/>
                <a:cs typeface="Carlito" pitchFamily="34" charset="-120"/>
              </a:rPr>
              <a:t>Source:</a:t>
            </a:r>
            <a:endParaRPr lang="en-US" sz="800" dirty="0"/>
          </a:p>
        </p:txBody>
      </p:sp>
      <p:sp>
        <p:nvSpPr>
          <p:cNvPr id="9" name="Text 6"/>
          <p:cNvSpPr/>
          <p:nvPr/>
        </p:nvSpPr>
        <p:spPr>
          <a:xfrm>
            <a:off x="1305967" y="2285554"/>
            <a:ext cx="2104937" cy="173593"/>
          </a:xfrm>
          <a:prstGeom prst="rect">
            <a:avLst/>
          </a:prstGeom>
          <a:noFill/>
          <a:ln/>
        </p:spPr>
        <p:txBody>
          <a:bodyPr wrap="square" lIns="0" tIns="0" rIns="0" bIns="0" rtlCol="0" anchor="t"/>
          <a:lstStyle/>
          <a:p>
            <a:pPr algn="l" indent="0" marL="0">
              <a:lnSpc>
                <a:spcPts val="1266"/>
              </a:lnSpc>
              <a:buNone/>
            </a:pPr>
            <a:r>
              <a:rPr lang="en-US" sz="844" dirty="0">
                <a:solidFill>
                  <a:srgbClr val="F8FAFC"/>
                </a:solidFill>
                <a:latin typeface="Carlito" pitchFamily="34" charset="0"/>
                <a:ea typeface="Carlito" pitchFamily="34" charset="-122"/>
                <a:cs typeface="Carlito" pitchFamily="34" charset="-120"/>
              </a:rPr>
              <a:t>Complete Guide to On-Page SEO</a:t>
            </a:r>
            <a:endParaRPr lang="en-US" sz="844" dirty="0"/>
          </a:p>
        </p:txBody>
      </p:sp>
      <p:sp>
        <p:nvSpPr>
          <p:cNvPr id="10" name="Text 7"/>
          <p:cNvSpPr/>
          <p:nvPr/>
        </p:nvSpPr>
        <p:spPr>
          <a:xfrm>
            <a:off x="3340708" y="2287339"/>
            <a:ext cx="157163" cy="157163"/>
          </a:xfrm>
          <a:prstGeom prst="rect">
            <a:avLst/>
          </a:prstGeom>
          <a:noFill/>
          <a:ln/>
        </p:spPr>
        <p:txBody>
          <a:bodyPr wrap="none" lIns="0" tIns="0" rIns="0" bIns="0" rtlCol="0" anchor="ctr"/>
          <a:lstStyle/>
          <a:p>
            <a:pPr algn="ctr" indent="0" marL="0">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11" name="Text 8"/>
          <p:cNvSpPr/>
          <p:nvPr/>
        </p:nvSpPr>
        <p:spPr>
          <a:xfrm>
            <a:off x="685800" y="2548086"/>
            <a:ext cx="128588" cy="128588"/>
          </a:xfrm>
          <a:prstGeom prst="rect">
            <a:avLst/>
          </a:prstGeom>
          <a:noFill/>
          <a:ln/>
        </p:spPr>
        <p:txBody>
          <a:bodyPr wrap="none" lIns="0" tIns="0" rIns="0" bIns="0" rtlCol="0" anchor="ctr"/>
          <a:lstStyle/>
          <a:p>
            <a:pPr algn="ctr" indent="0" marL="0">
              <a:buNone/>
            </a:pPr>
            <a:r>
              <a:rPr lang="en-US" sz="1266" dirty="0">
                <a:solidFill>
                  <a:srgbClr val="14B8A6"/>
                </a:solidFill>
                <a:latin typeface="Segoe UI Symbol" pitchFamily="34" charset="0"/>
                <a:ea typeface="Segoe UI Symbol" pitchFamily="34" charset="-122"/>
                <a:cs typeface="Segoe UI Symbol" pitchFamily="34" charset="-120"/>
              </a:rPr>
              <a:t>⌘</a:t>
            </a:r>
            <a:endParaRPr lang="en-US" sz="1266" dirty="0"/>
          </a:p>
        </p:txBody>
      </p:sp>
      <p:sp>
        <p:nvSpPr>
          <p:cNvPr id="12" name="Text 9"/>
          <p:cNvSpPr/>
          <p:nvPr/>
        </p:nvSpPr>
        <p:spPr>
          <a:xfrm>
            <a:off x="853362" y="2537371"/>
            <a:ext cx="475549" cy="164592"/>
          </a:xfrm>
          <a:prstGeom prst="rect">
            <a:avLst/>
          </a:prstGeom>
          <a:noFill/>
          <a:ln/>
        </p:spPr>
        <p:txBody>
          <a:bodyPr wrap="none" lIns="0" tIns="0" rIns="0" bIns="0" rtlCol="0" anchor="t"/>
          <a:lstStyle/>
          <a:p>
            <a:pPr algn="l" indent="0" marL="0">
              <a:lnSpc>
                <a:spcPts val="1181"/>
              </a:lnSpc>
              <a:buNone/>
            </a:pPr>
            <a:r>
              <a:rPr lang="en-US" sz="800" dirty="0">
                <a:solidFill>
                  <a:srgbClr val="94A3B8"/>
                </a:solidFill>
                <a:latin typeface="Carlito" pitchFamily="34" charset="0"/>
                <a:ea typeface="Carlito" pitchFamily="34" charset="-122"/>
                <a:cs typeface="Carlito" pitchFamily="34" charset="-120"/>
              </a:rPr>
              <a:t>Target:</a:t>
            </a:r>
            <a:endParaRPr lang="en-US" sz="800" dirty="0"/>
          </a:p>
        </p:txBody>
      </p:sp>
      <p:sp>
        <p:nvSpPr>
          <p:cNvPr id="13" name="Text 10"/>
          <p:cNvSpPr/>
          <p:nvPr/>
        </p:nvSpPr>
        <p:spPr>
          <a:xfrm>
            <a:off x="1271811" y="2532013"/>
            <a:ext cx="2005483" cy="173593"/>
          </a:xfrm>
          <a:prstGeom prst="rect">
            <a:avLst/>
          </a:prstGeom>
          <a:noFill/>
          <a:ln/>
        </p:spPr>
        <p:txBody>
          <a:bodyPr wrap="square" lIns="0" tIns="0" rIns="0" bIns="0" rtlCol="0" anchor="t"/>
          <a:lstStyle/>
          <a:p>
            <a:pPr algn="l" indent="0" marL="0">
              <a:lnSpc>
                <a:spcPts val="1266"/>
              </a:lnSpc>
              <a:buNone/>
            </a:pPr>
            <a:r>
              <a:rPr lang="en-US" sz="844" dirty="0">
                <a:solidFill>
                  <a:srgbClr val="F8FAFC"/>
                </a:solidFill>
                <a:latin typeface="Carlito" pitchFamily="34" charset="0"/>
                <a:ea typeface="Carlito" pitchFamily="34" charset="-122"/>
                <a:cs typeface="Carlito" pitchFamily="34" charset="-120"/>
              </a:rPr>
              <a:t>Internal Linking Best Practices</a:t>
            </a:r>
            <a:endParaRPr lang="en-US" sz="844" dirty="0"/>
          </a:p>
        </p:txBody>
      </p:sp>
      <p:sp>
        <p:nvSpPr>
          <p:cNvPr id="14" name="Text 11"/>
          <p:cNvSpPr/>
          <p:nvPr/>
        </p:nvSpPr>
        <p:spPr>
          <a:xfrm>
            <a:off x="674048" y="2826693"/>
            <a:ext cx="693302" cy="164592"/>
          </a:xfrm>
          <a:prstGeom prst="rect">
            <a:avLst/>
          </a:prstGeom>
          <a:noFill/>
          <a:ln/>
        </p:spPr>
        <p:txBody>
          <a:bodyPr wrap="none" lIns="0" tIns="0" rIns="0" bIns="0" rtlCol="0" anchor="t"/>
          <a:lstStyle/>
          <a:p>
            <a:pPr algn="l" indent="0" marL="0">
              <a:lnSpc>
                <a:spcPts val="1097"/>
              </a:lnSpc>
              <a:buNone/>
            </a:pPr>
            <a:r>
              <a:rPr lang="en-US" sz="731" dirty="0">
                <a:solidFill>
                  <a:srgbClr val="94A3B8"/>
                </a:solidFill>
                <a:latin typeface="Carlito" pitchFamily="34" charset="0"/>
                <a:ea typeface="Carlito" pitchFamily="34" charset="-122"/>
                <a:cs typeface="Carlito" pitchFamily="34" charset="-120"/>
              </a:rPr>
              <a:t>Anchor text:</a:t>
            </a:r>
            <a:endParaRPr lang="en-US" sz="731" dirty="0"/>
          </a:p>
        </p:txBody>
      </p:sp>
      <p:sp>
        <p:nvSpPr>
          <p:cNvPr id="15" name="Text 12"/>
          <p:cNvSpPr/>
          <p:nvPr/>
        </p:nvSpPr>
        <p:spPr>
          <a:xfrm>
            <a:off x="1343025" y="2799904"/>
            <a:ext cx="1676772" cy="192881"/>
          </a:xfrm>
          <a:prstGeom prst="roundRect">
            <a:avLst>
              <a:gd name="adj" fmla="val 29630"/>
            </a:avLst>
          </a:prstGeom>
          <a:solidFill>
            <a:srgbClr val="F97316"/>
          </a:solidFill>
          <a:ln/>
        </p:spPr>
        <p:txBody>
          <a:bodyPr wrap="square" rtlCol="0" anchor="ctr"/>
          <a:lstStyle/>
          <a:p>
            <a:pPr indent="0" marL="0">
              <a:buNone/>
            </a:pPr>
            <a:endParaRPr lang="en-US" dirty="0"/>
          </a:p>
        </p:txBody>
      </p:sp>
      <p:sp>
        <p:nvSpPr>
          <p:cNvPr id="16" name="Text 13"/>
          <p:cNvSpPr/>
          <p:nvPr/>
        </p:nvSpPr>
        <p:spPr>
          <a:xfrm>
            <a:off x="1343025" y="2799904"/>
            <a:ext cx="1719635" cy="200025"/>
          </a:xfrm>
          <a:prstGeom prst="rect">
            <a:avLst/>
          </a:prstGeom>
          <a:noFill/>
          <a:ln/>
        </p:spPr>
        <p:txBody>
          <a:bodyPr wrap="none" lIns="85725" tIns="21431" rIns="85725" bIns="21431" rtlCol="0" anchor="t"/>
          <a:lstStyle/>
          <a:p>
            <a:pPr algn="l" indent="0" marL="0">
              <a:lnSpc>
                <a:spcPts val="1181"/>
              </a:lnSpc>
              <a:buNone/>
            </a:pPr>
            <a:r>
              <a:rPr lang="en-US" sz="800" dirty="0">
                <a:solidFill>
                  <a:srgbClr val="FFFFFF"/>
                </a:solidFill>
                <a:latin typeface="Courier New" pitchFamily="34" charset="0"/>
                <a:ea typeface="Courier New" pitchFamily="34" charset="-122"/>
                <a:cs typeface="Courier New" pitchFamily="34" charset="-120"/>
              </a:rPr>
              <a:t>internal linking strategy</a:t>
            </a:r>
            <a:endParaRPr lang="en-US" sz="800" dirty="0"/>
          </a:p>
        </p:txBody>
      </p:sp>
      <p:sp>
        <p:nvSpPr>
          <p:cNvPr id="17" name="Text 14"/>
          <p:cNvSpPr/>
          <p:nvPr/>
        </p:nvSpPr>
        <p:spPr>
          <a:xfrm>
            <a:off x="3105522" y="2786330"/>
            <a:ext cx="367792" cy="220028"/>
          </a:xfrm>
          <a:prstGeom prst="roundRect">
            <a:avLst>
              <a:gd name="adj" fmla="val 43285616"/>
            </a:avLst>
          </a:prstGeom>
          <a:solidFill>
            <a:srgbClr val="ECFDF5"/>
          </a:solidFill>
          <a:ln/>
        </p:spPr>
        <p:txBody>
          <a:bodyPr wrap="square" rtlCol="0" anchor="ctr"/>
          <a:lstStyle/>
          <a:p>
            <a:pPr indent="0" marL="0">
              <a:buNone/>
            </a:pPr>
            <a:endParaRPr lang="en-US" dirty="0"/>
          </a:p>
        </p:txBody>
      </p:sp>
      <p:sp>
        <p:nvSpPr>
          <p:cNvPr id="18" name="Text 15"/>
          <p:cNvSpPr/>
          <p:nvPr/>
        </p:nvSpPr>
        <p:spPr>
          <a:xfrm>
            <a:off x="3105522" y="2798118"/>
            <a:ext cx="367792" cy="196453"/>
          </a:xfrm>
          <a:prstGeom prst="rect">
            <a:avLst/>
          </a:prstGeom>
          <a:noFill/>
          <a:ln/>
        </p:spPr>
        <p:txBody>
          <a:bodyPr wrap="none" lIns="0" tIns="0" rIns="0" bIns="0" rtlCol="0" anchor="ctr"/>
          <a:lstStyle/>
          <a:p>
            <a:pPr algn="ctr" indent="0" marL="0">
              <a:lnSpc>
                <a:spcPts val="1097"/>
              </a:lnSpc>
              <a:buNone/>
            </a:pPr>
            <a:r>
              <a:rPr lang="en-US" sz="800" dirty="0">
                <a:solidFill>
                  <a:srgbClr val="10B981"/>
                </a:solidFill>
                <a:latin typeface="Liberation Sans Narrow" pitchFamily="34" charset="0"/>
                <a:ea typeface="Liberation Sans Narrow" pitchFamily="34" charset="-122"/>
                <a:cs typeface="Liberation Sans Narrow" pitchFamily="34" charset="-120"/>
              </a:rPr>
              <a:t>92%</a:t>
            </a:r>
            <a:endParaRPr lang="en-US" sz="800" dirty="0"/>
          </a:p>
        </p:txBody>
      </p:sp>
      <p:sp>
        <p:nvSpPr>
          <p:cNvPr id="19" name="Text 16"/>
          <p:cNvSpPr/>
          <p:nvPr/>
        </p:nvSpPr>
        <p:spPr>
          <a:xfrm>
            <a:off x="3559039" y="2780330"/>
            <a:ext cx="661020" cy="232029"/>
          </a:xfrm>
          <a:prstGeom prst="roundRect">
            <a:avLst>
              <a:gd name="adj" fmla="val 41046798"/>
            </a:avLst>
          </a:prstGeom>
          <a:solidFill>
            <a:srgbClr val="FFF7ED"/>
          </a:solidFill>
          <a:ln/>
        </p:spPr>
        <p:txBody>
          <a:bodyPr wrap="square" rtlCol="0" anchor="ctr"/>
          <a:lstStyle/>
          <a:p>
            <a:pPr indent="0" marL="0">
              <a:buNone/>
            </a:pPr>
            <a:endParaRPr lang="en-US" dirty="0"/>
          </a:p>
        </p:txBody>
      </p:sp>
      <p:sp>
        <p:nvSpPr>
          <p:cNvPr id="20" name="Text 17"/>
          <p:cNvSpPr/>
          <p:nvPr/>
        </p:nvSpPr>
        <p:spPr>
          <a:xfrm>
            <a:off x="3559039" y="2792760"/>
            <a:ext cx="661020" cy="207169"/>
          </a:xfrm>
          <a:prstGeom prst="rect">
            <a:avLst/>
          </a:prstGeom>
          <a:noFill/>
          <a:ln/>
        </p:spPr>
        <p:txBody>
          <a:bodyPr wrap="none" lIns="0" tIns="0" rIns="0" bIns="0" rtlCol="0" anchor="ctr"/>
          <a:lstStyle/>
          <a:p>
            <a:pPr algn="ctr" indent="0" marL="0">
              <a:lnSpc>
                <a:spcPts val="1181"/>
              </a:lnSpc>
              <a:buNone/>
            </a:pPr>
            <a:r>
              <a:rPr lang="en-US" sz="800" dirty="0">
                <a:solidFill>
                  <a:srgbClr val="F97316"/>
                </a:solidFill>
                <a:latin typeface="Carlito" pitchFamily="34" charset="0"/>
                <a:ea typeface="Carlito" pitchFamily="34" charset="-122"/>
                <a:cs typeface="Carlito" pitchFamily="34" charset="-120"/>
              </a:rPr>
              <a:t>Pending</a:t>
            </a:r>
            <a:endParaRPr lang="en-US" sz="800" dirty="0"/>
          </a:p>
        </p:txBody>
      </p:sp>
      <p:sp>
        <p:nvSpPr>
          <p:cNvPr id="21" name="Text 18"/>
          <p:cNvSpPr/>
          <p:nvPr/>
        </p:nvSpPr>
        <p:spPr>
          <a:xfrm>
            <a:off x="517922" y="3260675"/>
            <a:ext cx="4456249" cy="719286"/>
          </a:xfrm>
          <a:prstGeom prst="roundRect">
            <a:avLst>
              <a:gd name="adj" fmla="val 15891"/>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22" name="Text 19"/>
          <p:cNvSpPr/>
          <p:nvPr/>
        </p:nvSpPr>
        <p:spPr>
          <a:xfrm>
            <a:off x="650081" y="3364260"/>
            <a:ext cx="4301658" cy="154734"/>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64748B"/>
                </a:solidFill>
                <a:latin typeface="Carlito" pitchFamily="34" charset="0"/>
                <a:ea typeface="Carlito" pitchFamily="34" charset="-122"/>
                <a:cs typeface="Carlito" pitchFamily="34" charset="-120"/>
              </a:rPr>
              <a:t>Surrounding context preview:</a:t>
            </a:r>
            <a:endParaRPr lang="en-US" sz="800" dirty="0"/>
          </a:p>
        </p:txBody>
      </p:sp>
      <p:sp>
        <p:nvSpPr>
          <p:cNvPr id="23" name="Text 20"/>
          <p:cNvSpPr/>
          <p:nvPr/>
        </p:nvSpPr>
        <p:spPr>
          <a:xfrm>
            <a:off x="650081" y="3546425"/>
            <a:ext cx="4191930" cy="329952"/>
          </a:xfrm>
          <a:prstGeom prst="rect">
            <a:avLst/>
          </a:prstGeom>
          <a:noFill/>
          <a:ln/>
        </p:spPr>
        <p:txBody>
          <a:bodyPr wrap="square" lIns="0" tIns="0" rIns="0" bIns="0" rtlCol="0" anchor="t"/>
          <a:lstStyle/>
          <a:p>
            <a:pPr algn="l" indent="0" marL="0">
              <a:lnSpc>
                <a:spcPts val="1299"/>
              </a:lnSpc>
              <a:buNone/>
            </a:pPr>
            <a:r>
              <a:rPr lang="en-US" sz="800" i="1" dirty="0">
                <a:solidFill>
                  <a:srgbClr val="475569"/>
                </a:solidFill>
                <a:latin typeface="Carlito" pitchFamily="34" charset="0"/>
                <a:ea typeface="Carlito" pitchFamily="34" charset="-122"/>
                <a:cs typeface="Carlito" pitchFamily="34" charset="-120"/>
              </a:rPr>
              <a:t>"...implementing a solid </a:t>
            </a:r>
            <a:pPr algn="l" indent="0" marL="0">
              <a:lnSpc>
                <a:spcPts val="1299"/>
              </a:lnSpc>
              <a:buNone/>
            </a:pPr>
            <a:r>
              <a:rPr lang="en-US" sz="800" b="1" i="1" dirty="0">
                <a:solidFill>
                  <a:srgbClr val="F97316"/>
                </a:solidFill>
                <a:latin typeface="Carlito" pitchFamily="34" charset="0"/>
                <a:ea typeface="Carlito" pitchFamily="34" charset="-122"/>
                <a:cs typeface="Carlito" pitchFamily="34" charset="-120"/>
              </a:rPr>
              <a:t>internal linking strategy</a:t>
            </a:r>
            <a:pPr algn="l" indent="0" marL="0">
              <a:lnSpc>
                <a:spcPts val="1299"/>
              </a:lnSpc>
              <a:buNone/>
            </a:pPr>
            <a:r>
              <a:rPr lang="en-US" sz="800" i="1" dirty="0">
                <a:solidFill>
                  <a:srgbClr val="475569"/>
                </a:solidFill>
                <a:latin typeface="Carlito" pitchFamily="34" charset="0"/>
                <a:ea typeface="Carlito" pitchFamily="34" charset="-122"/>
                <a:cs typeface="Carlito" pitchFamily="34" charset="-120"/>
              </a:rPr>
              <a:t> can significantly boost your page authority and help search engines..."</a:t>
            </a:r>
            <a:endParaRPr lang="en-US" sz="800" dirty="0"/>
          </a:p>
        </p:txBody>
      </p:sp>
      <p:sp>
        <p:nvSpPr>
          <p:cNvPr id="24" name="Text 21"/>
          <p:cNvSpPr/>
          <p:nvPr/>
        </p:nvSpPr>
        <p:spPr>
          <a:xfrm>
            <a:off x="5209915" y="1398612"/>
            <a:ext cx="3644652" cy="870645"/>
          </a:xfrm>
          <a:prstGeom prst="roundRect">
            <a:avLst>
              <a:gd name="adj" fmla="val 17504"/>
            </a:avLst>
          </a:prstGeom>
          <a:solidFill>
            <a:srgbClr val="F8FAFC"/>
          </a:solidFill>
          <a:ln w="7144">
            <a:solidFill>
              <a:srgbClr val="E2E8F0"/>
            </a:solidFill>
            <a:prstDash val="solid"/>
          </a:ln>
          <a:effectLst>
            <a:outerShdw sx="100000" sy="100000" kx="0" ky="0" algn="bl" rotWithShape="0" blurRad="28575" dist="9525" dir="5400000">
              <a:srgbClr val="000000">
                <a:alpha val="6000"/>
              </a:srgbClr>
            </a:outerShdw>
          </a:effectLst>
        </p:spPr>
        <p:txBody>
          <a:bodyPr wrap="square" rtlCol="0" anchor="ctr"/>
          <a:lstStyle/>
          <a:p>
            <a:pPr indent="0" marL="0">
              <a:buNone/>
            </a:pPr>
            <a:endParaRPr lang="en-US" dirty="0"/>
          </a:p>
        </p:txBody>
      </p:sp>
      <p:sp>
        <p:nvSpPr>
          <p:cNvPr id="25" name="Text 22"/>
          <p:cNvSpPr/>
          <p:nvPr/>
        </p:nvSpPr>
        <p:spPr>
          <a:xfrm>
            <a:off x="5384936" y="1587922"/>
            <a:ext cx="185738" cy="185738"/>
          </a:xfrm>
          <a:prstGeom prst="rect">
            <a:avLst/>
          </a:prstGeom>
          <a:noFill/>
          <a:ln/>
        </p:spPr>
        <p:txBody>
          <a:bodyPr wrap="none" lIns="0" tIns="0" rIns="0" bIns="0" rtlCol="0" anchor="ctr"/>
          <a:lstStyle/>
          <a:p>
            <a:pPr algn="ctr" indent="0" marL="0">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26" name="Text 23"/>
          <p:cNvSpPr/>
          <p:nvPr/>
        </p:nvSpPr>
        <p:spPr>
          <a:xfrm>
            <a:off x="5670686" y="1573634"/>
            <a:ext cx="3008858" cy="183309"/>
          </a:xfrm>
          <a:prstGeom prst="rect">
            <a:avLst/>
          </a:prstGeom>
          <a:noFill/>
          <a:ln/>
        </p:spPr>
        <p:txBody>
          <a:bodyPr wrap="none" lIns="0" tIns="0" rIns="0" bIns="0" rtlCol="0" anchor="t">
            <a:normAutofit/>
          </a:bodyPr>
          <a:lstStyle/>
          <a:p>
            <a:pPr algn="l" indent="0" marL="0">
              <a:lnSpc>
                <a:spcPts val="1434"/>
              </a:lnSpc>
              <a:buNone/>
            </a:pPr>
            <a:r>
              <a:rPr lang="en-US" sz="956" b="1" dirty="0">
                <a:solidFill>
                  <a:srgbClr val="1E293B"/>
                </a:solidFill>
                <a:latin typeface="Carlito" pitchFamily="34" charset="0"/>
                <a:ea typeface="Carlito" pitchFamily="34" charset="-122"/>
                <a:cs typeface="Carlito" pitchFamily="34" charset="-120"/>
              </a:rPr>
              <a:t>Natural Anchor Text</a:t>
            </a:r>
            <a:endParaRPr lang="en-US" sz="956" dirty="0"/>
          </a:p>
        </p:txBody>
      </p:sp>
      <p:sp>
        <p:nvSpPr>
          <p:cNvPr id="27" name="Text 24"/>
          <p:cNvSpPr/>
          <p:nvPr/>
        </p:nvSpPr>
        <p:spPr>
          <a:xfrm>
            <a:off x="5670686" y="1784375"/>
            <a:ext cx="3008858" cy="309860"/>
          </a:xfrm>
          <a:prstGeom prst="rect">
            <a:avLst/>
          </a:prstGeom>
          <a:noFill/>
          <a:ln/>
        </p:spPr>
        <p:txBody>
          <a:bodyPr wrap="square" lIns="0" tIns="0" rIns="0" bIns="0" rtlCol="0" anchor="t"/>
          <a:lstStyle/>
          <a:p>
            <a:pPr algn="l" indent="0" marL="0">
              <a:lnSpc>
                <a:spcPts val="1221"/>
              </a:lnSpc>
              <a:buNone/>
            </a:pPr>
            <a:r>
              <a:rPr lang="en-US" sz="800" dirty="0">
                <a:solidFill>
                  <a:srgbClr val="64748B"/>
                </a:solidFill>
                <a:latin typeface="Carlito" pitchFamily="34" charset="0"/>
                <a:ea typeface="Carlito" pitchFamily="34" charset="-122"/>
                <a:cs typeface="Carlito" pitchFamily="34" charset="-120"/>
              </a:rPr>
              <a:t>AI generates 2-5 word anchor text that reads naturally within your existing content.</a:t>
            </a:r>
            <a:endParaRPr lang="en-US" sz="800" dirty="0"/>
          </a:p>
        </p:txBody>
      </p:sp>
      <p:sp>
        <p:nvSpPr>
          <p:cNvPr id="28" name="Text 25"/>
          <p:cNvSpPr/>
          <p:nvPr/>
        </p:nvSpPr>
        <p:spPr>
          <a:xfrm>
            <a:off x="5209915" y="2376413"/>
            <a:ext cx="3644652" cy="870645"/>
          </a:xfrm>
          <a:prstGeom prst="roundRect">
            <a:avLst>
              <a:gd name="adj" fmla="val 17504"/>
            </a:avLst>
          </a:prstGeom>
          <a:solidFill>
            <a:srgbClr val="F8FAFC"/>
          </a:solidFill>
          <a:ln w="7144">
            <a:solidFill>
              <a:srgbClr val="E2E8F0"/>
            </a:solidFill>
            <a:prstDash val="solid"/>
          </a:ln>
          <a:effectLst>
            <a:outerShdw sx="100000" sy="100000" kx="0" ky="0" algn="bl" rotWithShape="0" blurRad="28575" dist="9525" dir="5400000">
              <a:srgbClr val="000000">
                <a:alpha val="6000"/>
              </a:srgbClr>
            </a:outerShdw>
          </a:effectLst>
        </p:spPr>
        <p:txBody>
          <a:bodyPr wrap="square" rtlCol="0" anchor="ctr"/>
          <a:lstStyle/>
          <a:p>
            <a:pPr indent="0" marL="0">
              <a:buNone/>
            </a:pPr>
            <a:endParaRPr lang="en-US" dirty="0"/>
          </a:p>
        </p:txBody>
      </p:sp>
      <p:sp>
        <p:nvSpPr>
          <p:cNvPr id="29" name="Text 26"/>
          <p:cNvSpPr/>
          <p:nvPr/>
        </p:nvSpPr>
        <p:spPr>
          <a:xfrm>
            <a:off x="5384936" y="2565722"/>
            <a:ext cx="185738" cy="185738"/>
          </a:xfrm>
          <a:prstGeom prst="rect">
            <a:avLst/>
          </a:prstGeom>
          <a:noFill/>
          <a:ln/>
        </p:spPr>
        <p:txBody>
          <a:bodyPr wrap="none" lIns="0" tIns="0" rIns="0" bIns="0" rtlCol="0" anchor="ctr"/>
          <a:lstStyle/>
          <a:p>
            <a:pPr algn="ctr" indent="0" marL="0">
              <a:buNone/>
            </a:pPr>
            <a:r>
              <a:rPr lang="en-US" sz="1828" dirty="0">
                <a:solidFill>
                  <a:srgbClr val="0D9488"/>
                </a:solidFill>
                <a:latin typeface="Segoe UI Symbol" pitchFamily="34" charset="0"/>
                <a:ea typeface="Segoe UI Symbol" pitchFamily="34" charset="-122"/>
                <a:cs typeface="Segoe UI Symbol" pitchFamily="34" charset="-120"/>
              </a:rPr>
              <a:t>▦</a:t>
            </a:r>
            <a:endParaRPr lang="en-US" sz="1828" dirty="0"/>
          </a:p>
        </p:txBody>
      </p:sp>
      <p:sp>
        <p:nvSpPr>
          <p:cNvPr id="30" name="Text 27"/>
          <p:cNvSpPr/>
          <p:nvPr/>
        </p:nvSpPr>
        <p:spPr>
          <a:xfrm>
            <a:off x="5670686" y="2551435"/>
            <a:ext cx="3008858" cy="183309"/>
          </a:xfrm>
          <a:prstGeom prst="rect">
            <a:avLst/>
          </a:prstGeom>
          <a:noFill/>
          <a:ln/>
        </p:spPr>
        <p:txBody>
          <a:bodyPr wrap="none" lIns="0" tIns="0" rIns="0" bIns="0" rtlCol="0" anchor="t">
            <a:normAutofit/>
          </a:bodyPr>
          <a:lstStyle/>
          <a:p>
            <a:pPr algn="l" indent="0" marL="0">
              <a:lnSpc>
                <a:spcPts val="1434"/>
              </a:lnSpc>
              <a:buNone/>
            </a:pPr>
            <a:r>
              <a:rPr lang="en-US" sz="956" b="1" dirty="0">
                <a:solidFill>
                  <a:srgbClr val="1E293B"/>
                </a:solidFill>
                <a:latin typeface="Carlito" pitchFamily="34" charset="0"/>
                <a:ea typeface="Carlito" pitchFamily="34" charset="-122"/>
                <a:cs typeface="Carlito" pitchFamily="34" charset="-120"/>
              </a:rPr>
              <a:t>Relevance Scoring</a:t>
            </a:r>
            <a:endParaRPr lang="en-US" sz="956" dirty="0"/>
          </a:p>
        </p:txBody>
      </p:sp>
      <p:sp>
        <p:nvSpPr>
          <p:cNvPr id="31" name="Text 28"/>
          <p:cNvSpPr/>
          <p:nvPr/>
        </p:nvSpPr>
        <p:spPr>
          <a:xfrm>
            <a:off x="5670686" y="2762176"/>
            <a:ext cx="3008858" cy="309860"/>
          </a:xfrm>
          <a:prstGeom prst="rect">
            <a:avLst/>
          </a:prstGeom>
          <a:noFill/>
          <a:ln/>
        </p:spPr>
        <p:txBody>
          <a:bodyPr wrap="square" lIns="0" tIns="0" rIns="0" bIns="0" rtlCol="0" anchor="t"/>
          <a:lstStyle/>
          <a:p>
            <a:pPr algn="l" indent="0" marL="0">
              <a:lnSpc>
                <a:spcPts val="1221"/>
              </a:lnSpc>
              <a:buNone/>
            </a:pPr>
            <a:r>
              <a:rPr lang="en-US" sz="800" dirty="0">
                <a:solidFill>
                  <a:srgbClr val="64748B"/>
                </a:solidFill>
                <a:latin typeface="Carlito" pitchFamily="34" charset="0"/>
                <a:ea typeface="Carlito" pitchFamily="34" charset="-122"/>
                <a:cs typeface="Carlito" pitchFamily="34" charset="-120"/>
              </a:rPr>
              <a:t>Every suggestion includes a TF-overlap relevance score. </a:t>
            </a:r>
            <a:pPr algn="l" indent="0" marL="0">
              <a:lnSpc>
                <a:spcPts val="1221"/>
              </a:lnSpc>
              <a:buNone/>
            </a:pPr>
            <a:r>
              <a:rPr lang="en-US" sz="800" dirty="0">
                <a:solidFill>
                  <a:srgbClr val="10B981"/>
                </a:solidFill>
                <a:latin typeface="Liberation Sans Narrow" pitchFamily="34" charset="0"/>
                <a:ea typeface="Liberation Sans Narrow" pitchFamily="34" charset="-122"/>
                <a:cs typeface="Liberation Sans Narrow" pitchFamily="34" charset="-120"/>
              </a:rPr>
              <a:t>Green (&gt;80%)</a:t>
            </a:r>
            <a:pPr algn="l" indent="0" marL="0">
              <a:lnSpc>
                <a:spcPts val="1221"/>
              </a:lnSpc>
              <a:buNone/>
            </a:pPr>
            <a:r>
              <a:rPr lang="en-US" sz="800" dirty="0">
                <a:solidFill>
                  <a:srgbClr val="64748B"/>
                </a:solidFill>
                <a:latin typeface="Carlito" pitchFamily="34" charset="0"/>
                <a:ea typeface="Carlito" pitchFamily="34" charset="-122"/>
                <a:cs typeface="Carlito" pitchFamily="34" charset="-120"/>
              </a:rPr>
              <a:t>, </a:t>
            </a:r>
            <a:pPr algn="l" indent="0" marL="0">
              <a:lnSpc>
                <a:spcPts val="1221"/>
              </a:lnSpc>
              <a:buNone/>
            </a:pPr>
            <a:r>
              <a:rPr lang="en-US" sz="800" dirty="0">
                <a:solidFill>
                  <a:srgbClr val="F59E0B"/>
                </a:solidFill>
                <a:latin typeface="Liberation Sans Narrow" pitchFamily="34" charset="0"/>
                <a:ea typeface="Liberation Sans Narrow" pitchFamily="34" charset="-122"/>
                <a:cs typeface="Liberation Sans Narrow" pitchFamily="34" charset="-120"/>
              </a:rPr>
              <a:t>Amber (&gt;50%)</a:t>
            </a:r>
            <a:pPr algn="l" indent="0" marL="0">
              <a:lnSpc>
                <a:spcPts val="1221"/>
              </a:lnSpc>
              <a:buNone/>
            </a:pPr>
            <a:r>
              <a:rPr lang="en-US" sz="800" dirty="0">
                <a:solidFill>
                  <a:srgbClr val="64748B"/>
                </a:solidFill>
                <a:latin typeface="Carlito" pitchFamily="34" charset="0"/>
                <a:ea typeface="Carlito" pitchFamily="34" charset="-122"/>
                <a:cs typeface="Carlito" pitchFamily="34" charset="-120"/>
              </a:rPr>
              <a:t>, </a:t>
            </a:r>
            <a:pPr algn="l" indent="0" marL="0">
              <a:lnSpc>
                <a:spcPts val="1221"/>
              </a:lnSpc>
              <a:buNone/>
            </a:pPr>
            <a:r>
              <a:rPr lang="en-US" sz="800" dirty="0">
                <a:solidFill>
                  <a:srgbClr val="F43F5E"/>
                </a:solidFill>
                <a:latin typeface="Liberation Sans Narrow" pitchFamily="34" charset="0"/>
                <a:ea typeface="Liberation Sans Narrow" pitchFamily="34" charset="-122"/>
                <a:cs typeface="Liberation Sans Narrow" pitchFamily="34" charset="-120"/>
              </a:rPr>
              <a:t>Red (≤50%)</a:t>
            </a:r>
            <a:pPr algn="l" indent="0" marL="0">
              <a:lnSpc>
                <a:spcPts val="1221"/>
              </a:lnSpc>
              <a:buNone/>
            </a:pPr>
            <a:r>
              <a:rPr lang="en-US" sz="800" dirty="0">
                <a:solidFill>
                  <a:srgbClr val="64748B"/>
                </a:solidFill>
                <a:latin typeface="Carlito" pitchFamily="34" charset="0"/>
                <a:ea typeface="Carlito" pitchFamily="34" charset="-122"/>
                <a:cs typeface="Carlito" pitchFamily="34" charset="-120"/>
              </a:rPr>
              <a:t>.</a:t>
            </a:r>
            <a:endParaRPr lang="en-US" sz="800" dirty="0"/>
          </a:p>
        </p:txBody>
      </p:sp>
      <p:sp>
        <p:nvSpPr>
          <p:cNvPr id="32" name="Text 29"/>
          <p:cNvSpPr/>
          <p:nvPr/>
        </p:nvSpPr>
        <p:spPr>
          <a:xfrm>
            <a:off x="5209915" y="3354214"/>
            <a:ext cx="3644652" cy="870645"/>
          </a:xfrm>
          <a:prstGeom prst="roundRect">
            <a:avLst>
              <a:gd name="adj" fmla="val 17504"/>
            </a:avLst>
          </a:prstGeom>
          <a:solidFill>
            <a:srgbClr val="F8FAFC"/>
          </a:solidFill>
          <a:ln w="7144">
            <a:solidFill>
              <a:srgbClr val="E2E8F0"/>
            </a:solidFill>
            <a:prstDash val="solid"/>
          </a:ln>
          <a:effectLst>
            <a:outerShdw sx="100000" sy="100000" kx="0" ky="0" algn="bl" rotWithShape="0" blurRad="28575" dist="9525" dir="5400000">
              <a:srgbClr val="000000">
                <a:alpha val="6000"/>
              </a:srgbClr>
            </a:outerShdw>
          </a:effectLst>
        </p:spPr>
        <p:txBody>
          <a:bodyPr wrap="square" rtlCol="0" anchor="ctr"/>
          <a:lstStyle/>
          <a:p>
            <a:pPr indent="0" marL="0">
              <a:buNone/>
            </a:pPr>
            <a:endParaRPr lang="en-US" dirty="0"/>
          </a:p>
        </p:txBody>
      </p:sp>
      <p:sp>
        <p:nvSpPr>
          <p:cNvPr id="33" name="Text 30"/>
          <p:cNvSpPr/>
          <p:nvPr/>
        </p:nvSpPr>
        <p:spPr>
          <a:xfrm>
            <a:off x="5384936" y="3543523"/>
            <a:ext cx="185738" cy="185738"/>
          </a:xfrm>
          <a:prstGeom prst="rect">
            <a:avLst/>
          </a:prstGeom>
          <a:noFill/>
          <a:ln/>
        </p:spPr>
        <p:txBody>
          <a:bodyPr wrap="none" lIns="0" tIns="0" rIns="0" bIns="0" rtlCol="0" anchor="ctr"/>
          <a:lstStyle/>
          <a:p>
            <a:pPr algn="ctr" indent="0" marL="0">
              <a:buNone/>
            </a:pPr>
            <a:r>
              <a:rPr lang="en-US" sz="1828" dirty="0">
                <a:solidFill>
                  <a:srgbClr val="F59E0B"/>
                </a:solidFill>
                <a:latin typeface="Segoe UI Symbol" pitchFamily="34" charset="0"/>
                <a:ea typeface="Segoe UI Symbol" pitchFamily="34" charset="-122"/>
                <a:cs typeface="Segoe UI Symbol" pitchFamily="34" charset="-120"/>
              </a:rPr>
              <a:t>▤</a:t>
            </a:r>
            <a:endParaRPr lang="en-US" sz="1828" dirty="0"/>
          </a:p>
        </p:txBody>
      </p:sp>
      <p:sp>
        <p:nvSpPr>
          <p:cNvPr id="34" name="Text 31"/>
          <p:cNvSpPr/>
          <p:nvPr/>
        </p:nvSpPr>
        <p:spPr>
          <a:xfrm>
            <a:off x="5670686" y="3529236"/>
            <a:ext cx="3008858" cy="183309"/>
          </a:xfrm>
          <a:prstGeom prst="rect">
            <a:avLst/>
          </a:prstGeom>
          <a:noFill/>
          <a:ln/>
        </p:spPr>
        <p:txBody>
          <a:bodyPr wrap="none" lIns="0" tIns="0" rIns="0" bIns="0" rtlCol="0" anchor="t">
            <a:normAutofit/>
          </a:bodyPr>
          <a:lstStyle/>
          <a:p>
            <a:pPr algn="l" indent="0" marL="0">
              <a:lnSpc>
                <a:spcPts val="1434"/>
              </a:lnSpc>
              <a:buNone/>
            </a:pPr>
            <a:r>
              <a:rPr lang="en-US" sz="956" b="1" dirty="0">
                <a:solidFill>
                  <a:srgbClr val="1E293B"/>
                </a:solidFill>
                <a:latin typeface="Carlito" pitchFamily="34" charset="0"/>
                <a:ea typeface="Carlito" pitchFamily="34" charset="-122"/>
                <a:cs typeface="Carlito" pitchFamily="34" charset="-120"/>
              </a:rPr>
              <a:t>Batch Operations</a:t>
            </a:r>
            <a:endParaRPr lang="en-US" sz="956" dirty="0"/>
          </a:p>
        </p:txBody>
      </p:sp>
      <p:sp>
        <p:nvSpPr>
          <p:cNvPr id="35" name="Text 32"/>
          <p:cNvSpPr/>
          <p:nvPr/>
        </p:nvSpPr>
        <p:spPr>
          <a:xfrm>
            <a:off x="5670686" y="3739976"/>
            <a:ext cx="3008858" cy="309860"/>
          </a:xfrm>
          <a:prstGeom prst="rect">
            <a:avLst/>
          </a:prstGeom>
          <a:noFill/>
          <a:ln/>
        </p:spPr>
        <p:txBody>
          <a:bodyPr wrap="square" lIns="0" tIns="0" rIns="0" bIns="0" rtlCol="0" anchor="t"/>
          <a:lstStyle/>
          <a:p>
            <a:pPr algn="l" indent="0" marL="0">
              <a:lnSpc>
                <a:spcPts val="1221"/>
              </a:lnSpc>
              <a:buNone/>
            </a:pPr>
            <a:r>
              <a:rPr lang="en-US" sz="800" dirty="0">
                <a:solidFill>
                  <a:srgbClr val="64748B"/>
                </a:solidFill>
                <a:latin typeface="Carlito" pitchFamily="34" charset="0"/>
                <a:ea typeface="Carlito" pitchFamily="34" charset="-122"/>
                <a:cs typeface="Carlito" pitchFamily="34" charset="-120"/>
              </a:rPr>
              <a:t>Approve all, export to CSV or JSON, or review one by one — full control over your workflow.</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28625" y="-571500"/>
            <a:ext cx="2428875" cy="2428875"/>
          </a:xfrm>
          <a:prstGeom prst="rect">
            <a:avLst/>
          </a:prstGeom>
        </p:spPr>
      </p:pic>
      <p:sp>
        <p:nvSpPr>
          <p:cNvPr id="3" name="Text 0"/>
          <p:cNvSpPr/>
          <p:nvPr/>
        </p:nvSpPr>
        <p:spPr>
          <a:xfrm>
            <a:off x="-428625" y="-571500"/>
            <a:ext cx="2428875" cy="2428875"/>
          </a:xfrm>
          <a:prstGeom prst="ellipse">
            <a:avLst/>
          </a:prstGeom>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514350" y="342900"/>
            <a:ext cx="8629650" cy="333202"/>
          </a:xfrm>
          <a:prstGeom prst="rect">
            <a:avLst/>
          </a:prstGeom>
          <a:noFill/>
          <a:ln/>
        </p:spPr>
        <p:txBody>
          <a:bodyPr wrap="square" lIns="0" tIns="0" rIns="0" bIns="0" rtlCol="0" anchor="t"/>
          <a:lstStyle/>
          <a:p>
            <a:pPr algn="l" indent="0" marL="0">
              <a:lnSpc>
                <a:spcPts val="2430"/>
              </a:lnSpc>
              <a:buNone/>
            </a:pPr>
            <a:r>
              <a:rPr lang="en-US" sz="2025" b="1" dirty="0">
                <a:solidFill>
                  <a:srgbClr val="1E293B"/>
                </a:solidFill>
                <a:latin typeface="Carlito" pitchFamily="34" charset="0"/>
                <a:ea typeface="Carlito" pitchFamily="34" charset="-122"/>
                <a:cs typeface="Carlito" pitchFamily="34" charset="-120"/>
              </a:rPr>
              <a:t>Interactive </a:t>
            </a:r>
            <a:pPr algn="l" indent="0" marL="0">
              <a:lnSpc>
                <a:spcPts val="2430"/>
              </a:lnSpc>
              <a:buNone/>
            </a:pPr>
            <a:r>
              <a:rPr lang="en-US" sz="2025" b="1" dirty="0">
                <a:solidFill>
                  <a:srgbClr val="0D9488"/>
                </a:solidFill>
                <a:latin typeface="Carlito" pitchFamily="34" charset="0"/>
                <a:ea typeface="Carlito" pitchFamily="34" charset="-122"/>
                <a:cs typeface="Carlito" pitchFamily="34" charset="-120"/>
              </a:rPr>
              <a:t>Link Network Graph</a:t>
            </a:r>
            <a:endParaRPr lang="en-US" sz="2025" dirty="0"/>
          </a:p>
        </p:txBody>
      </p:sp>
      <p:sp>
        <p:nvSpPr>
          <p:cNvPr id="5" name="Text 2"/>
          <p:cNvSpPr/>
          <p:nvPr/>
        </p:nvSpPr>
        <p:spPr>
          <a:xfrm>
            <a:off x="514350" y="1946002"/>
            <a:ext cx="3651796" cy="419517"/>
          </a:xfrm>
          <a:prstGeom prst="rect">
            <a:avLst/>
          </a:prstGeom>
          <a:noFill/>
          <a:ln/>
        </p:spPr>
        <p:txBody>
          <a:bodyPr wrap="square" lIns="0" tIns="0" rIns="0" bIns="0" rtlCol="0" anchor="t"/>
          <a:lstStyle/>
          <a:p>
            <a:pPr algn="l" indent="0" marL="0">
              <a:lnSpc>
                <a:spcPts val="1530"/>
              </a:lnSpc>
              <a:buNone/>
            </a:pPr>
            <a:r>
              <a:rPr lang="en-US" sz="956" dirty="0">
                <a:solidFill>
                  <a:srgbClr val="64748B"/>
                </a:solidFill>
                <a:latin typeface="Carlito" pitchFamily="34" charset="0"/>
                <a:ea typeface="Carlito" pitchFamily="34" charset="-122"/>
                <a:cs typeface="Carlito" pitchFamily="34" charset="-120"/>
              </a:rPr>
              <a:t>Visualize your entire site's internal link structure as an interactive force-directed graph.</a:t>
            </a:r>
            <a:endParaRPr lang="en-US" sz="956" dirty="0"/>
          </a:p>
        </p:txBody>
      </p:sp>
      <p:sp>
        <p:nvSpPr>
          <p:cNvPr id="6" name="Text 3"/>
          <p:cNvSpPr/>
          <p:nvPr/>
        </p:nvSpPr>
        <p:spPr>
          <a:xfrm>
            <a:off x="514350" y="2477319"/>
            <a:ext cx="28575" cy="342900"/>
          </a:xfrm>
          <a:prstGeom prst="roundRect">
            <a:avLst>
              <a:gd name="adj" fmla="val 133333"/>
            </a:avLst>
          </a:prstGeom>
          <a:solidFill>
            <a:srgbClr val="F97316"/>
          </a:solidFill>
          <a:ln/>
        </p:spPr>
        <p:txBody>
          <a:bodyPr wrap="square" rtlCol="0" anchor="ctr"/>
          <a:lstStyle/>
          <a:p>
            <a:pPr indent="0" marL="0">
              <a:buNone/>
            </a:pPr>
            <a:endParaRPr lang="en-US" dirty="0"/>
          </a:p>
        </p:txBody>
      </p:sp>
      <p:sp>
        <p:nvSpPr>
          <p:cNvPr id="7" name="Text 4"/>
          <p:cNvSpPr/>
          <p:nvPr/>
        </p:nvSpPr>
        <p:spPr>
          <a:xfrm>
            <a:off x="642938" y="2477319"/>
            <a:ext cx="3523208" cy="370332"/>
          </a:xfrm>
          <a:prstGeom prst="rect">
            <a:avLst/>
          </a:prstGeom>
          <a:noFill/>
          <a:ln/>
        </p:spPr>
        <p:txBody>
          <a:bodyPr wrap="square" lIns="0" tIns="0" rIns="0" bIns="0" rtlCol="0" anchor="t"/>
          <a:lstStyle/>
          <a:p>
            <a:pPr algn="l" indent="0" marL="0">
              <a:lnSpc>
                <a:spcPts val="1350"/>
              </a:lnSpc>
              <a:buNone/>
            </a:pPr>
            <a:r>
              <a:rPr lang="en-US" sz="844" b="1" dirty="0">
                <a:solidFill>
                  <a:srgbClr val="F97316"/>
                </a:solidFill>
                <a:latin typeface="Carlito" pitchFamily="34" charset="0"/>
                <a:ea typeface="Carlito" pitchFamily="34" charset="-122"/>
                <a:cs typeface="Carlito" pitchFamily="34" charset="-120"/>
              </a:rPr>
              <a:t>Orange nodes</a:t>
            </a:r>
            <a:pPr algn="l" indent="0" marL="0">
              <a:lnSpc>
                <a:spcPts val="1350"/>
              </a:lnSpc>
              <a:buNone/>
            </a:pPr>
            <a:r>
              <a:rPr lang="en-US" sz="844" dirty="0">
                <a:solidFill>
                  <a:srgbClr val="1E293B"/>
                </a:solidFill>
                <a:latin typeface="Carlito" pitchFamily="34" charset="0"/>
                <a:ea typeface="Carlito" pitchFamily="34" charset="-122"/>
                <a:cs typeface="Carlito" pitchFamily="34" charset="-120"/>
              </a:rPr>
              <a:t> = orphan pages (no incoming links) — instantly see what needs attention.</a:t>
            </a:r>
            <a:endParaRPr lang="en-US" sz="844" dirty="0"/>
          </a:p>
        </p:txBody>
      </p:sp>
      <p:sp>
        <p:nvSpPr>
          <p:cNvPr id="8" name="Text 5"/>
          <p:cNvSpPr/>
          <p:nvPr/>
        </p:nvSpPr>
        <p:spPr>
          <a:xfrm>
            <a:off x="514350" y="2920231"/>
            <a:ext cx="28575" cy="285750"/>
          </a:xfrm>
          <a:prstGeom prst="roundRect">
            <a:avLst>
              <a:gd name="adj" fmla="val 133333"/>
            </a:avLst>
          </a:prstGeom>
          <a:solidFill>
            <a:srgbClr val="0D9488"/>
          </a:solidFill>
          <a:ln/>
        </p:spPr>
        <p:txBody>
          <a:bodyPr wrap="square" rtlCol="0" anchor="ctr"/>
          <a:lstStyle/>
          <a:p>
            <a:pPr indent="0" marL="0">
              <a:buNone/>
            </a:pPr>
            <a:endParaRPr lang="en-US" dirty="0"/>
          </a:p>
        </p:txBody>
      </p:sp>
      <p:sp>
        <p:nvSpPr>
          <p:cNvPr id="9" name="Text 6"/>
          <p:cNvSpPr/>
          <p:nvPr/>
        </p:nvSpPr>
        <p:spPr>
          <a:xfrm>
            <a:off x="642938" y="2920231"/>
            <a:ext cx="3523208" cy="185166"/>
          </a:xfrm>
          <a:prstGeom prst="rect">
            <a:avLst/>
          </a:prstGeom>
          <a:noFill/>
          <a:ln/>
        </p:spPr>
        <p:txBody>
          <a:bodyPr wrap="square" lIns="0" tIns="0" rIns="0" bIns="0" rtlCol="0" anchor="t"/>
          <a:lstStyle/>
          <a:p>
            <a:pPr algn="l" indent="0" marL="0">
              <a:lnSpc>
                <a:spcPts val="1350"/>
              </a:lnSpc>
              <a:buNone/>
            </a:pPr>
            <a:r>
              <a:rPr lang="en-US" sz="844" b="1" dirty="0">
                <a:solidFill>
                  <a:srgbClr val="0D9488"/>
                </a:solidFill>
                <a:latin typeface="Carlito" pitchFamily="34" charset="0"/>
                <a:ea typeface="Carlito" pitchFamily="34" charset="-122"/>
                <a:cs typeface="Carlito" pitchFamily="34" charset="-120"/>
              </a:rPr>
              <a:t>Teal nodes</a:t>
            </a:r>
            <a:pPr algn="l" indent="0" marL="0">
              <a:lnSpc>
                <a:spcPts val="1350"/>
              </a:lnSpc>
              <a:buNone/>
            </a:pPr>
            <a:r>
              <a:rPr lang="en-US" sz="844" dirty="0">
                <a:solidFill>
                  <a:srgbClr val="1E293B"/>
                </a:solidFill>
                <a:latin typeface="Carlito" pitchFamily="34" charset="0"/>
                <a:ea typeface="Carlito" pitchFamily="34" charset="-122"/>
                <a:cs typeface="Carlito" pitchFamily="34" charset="-120"/>
              </a:rPr>
              <a:t> = well-linked pages — your strongest content hubs.</a:t>
            </a:r>
            <a:endParaRPr lang="en-US" sz="844" dirty="0"/>
          </a:p>
        </p:txBody>
      </p:sp>
      <p:sp>
        <p:nvSpPr>
          <p:cNvPr id="10" name="Text 7"/>
          <p:cNvSpPr/>
          <p:nvPr/>
        </p:nvSpPr>
        <p:spPr>
          <a:xfrm>
            <a:off x="514350" y="3305994"/>
            <a:ext cx="28575" cy="342900"/>
          </a:xfrm>
          <a:prstGeom prst="roundRect">
            <a:avLst>
              <a:gd name="adj" fmla="val 133333"/>
            </a:avLst>
          </a:prstGeom>
          <a:solidFill>
            <a:srgbClr val="0D9488"/>
          </a:solidFill>
          <a:ln/>
        </p:spPr>
        <p:txBody>
          <a:bodyPr wrap="square" rtlCol="0" anchor="ctr"/>
          <a:lstStyle/>
          <a:p>
            <a:pPr indent="0" marL="0">
              <a:buNone/>
            </a:pPr>
            <a:endParaRPr lang="en-US" dirty="0"/>
          </a:p>
        </p:txBody>
      </p:sp>
      <p:sp>
        <p:nvSpPr>
          <p:cNvPr id="11" name="Text 8"/>
          <p:cNvSpPr/>
          <p:nvPr/>
        </p:nvSpPr>
        <p:spPr>
          <a:xfrm>
            <a:off x="642938" y="3305994"/>
            <a:ext cx="3523208" cy="370332"/>
          </a:xfrm>
          <a:prstGeom prst="rect">
            <a:avLst/>
          </a:prstGeom>
          <a:noFill/>
          <a:ln/>
        </p:spPr>
        <p:txBody>
          <a:bodyPr wrap="square" lIns="0" tIns="0" rIns="0" bIns="0" rtlCol="0" anchor="t"/>
          <a:lstStyle/>
          <a:p>
            <a:pPr algn="l" indent="0" marL="0">
              <a:lnSpc>
                <a:spcPts val="1350"/>
              </a:lnSpc>
              <a:buNone/>
            </a:pPr>
            <a:r>
              <a:rPr lang="en-US" sz="844" dirty="0">
                <a:solidFill>
                  <a:srgbClr val="1E293B"/>
                </a:solidFill>
                <a:latin typeface="Carlito" pitchFamily="34" charset="0"/>
                <a:ea typeface="Carlito" pitchFamily="34" charset="-122"/>
                <a:cs typeface="Carlito" pitchFamily="34" charset="-120"/>
              </a:rPr>
              <a:t>Pan, zoom, and hover for detailed page info including word count and link counts.</a:t>
            </a:r>
            <a:endParaRPr lang="en-US" sz="844" dirty="0"/>
          </a:p>
        </p:txBody>
      </p:sp>
      <p:sp>
        <p:nvSpPr>
          <p:cNvPr id="12" name="Text 9"/>
          <p:cNvSpPr/>
          <p:nvPr/>
        </p:nvSpPr>
        <p:spPr>
          <a:xfrm>
            <a:off x="4398318" y="1079376"/>
            <a:ext cx="4456249" cy="2007394"/>
          </a:xfrm>
          <a:prstGeom prst="roundRect">
            <a:avLst>
              <a:gd name="adj" fmla="val 7592"/>
            </a:avLst>
          </a:prstGeom>
          <a:solidFill>
            <a:srgbClr val="F8FAFC"/>
          </a:solidFill>
          <a:ln w="7144">
            <a:solidFill>
              <a:srgbClr val="E2E8F0"/>
            </a:solidFill>
            <a:prstDash val="solid"/>
          </a:ln>
          <a:effectLst>
            <a:outerShdw sx="100000" sy="100000" kx="0" ky="0" algn="bl" rotWithShape="0" blurRad="76200" dist="19050" dir="5400000">
              <a:srgbClr val="000000">
                <a:alpha val="8000"/>
              </a:srgbClr>
            </a:outerShdw>
          </a:effectLst>
        </p:spPr>
        <p:txBody>
          <a:bodyPr wrap="square" rtlCol="0" anchor="ctr"/>
          <a:lstStyle/>
          <a:p>
            <a:pPr indent="0" marL="0">
              <a:buNone/>
            </a:pPr>
            <a:endParaRPr lang="en-US" dirty="0"/>
          </a:p>
        </p:txBody>
      </p:sp>
      <p:pic>
        <p:nvPicPr>
          <p:cNvPr id="13" name="Image 1" descr="/tmp/h2p-fit-1783793345754-z7eu0h.png">    </p:cNvPr>
          <p:cNvPicPr>
            <a:picLocks noChangeAspect="1"/>
          </p:cNvPicPr>
          <p:nvPr/>
        </p:nvPicPr>
        <p:blipFill>
          <a:blip r:embed="rId2"/>
          <a:stretch>
            <a:fillRect/>
          </a:stretch>
        </p:blipFill>
        <p:spPr>
          <a:xfrm>
            <a:off x="4401889" y="1082948"/>
            <a:ext cx="4449105" cy="2000250"/>
          </a:xfrm>
          <a:prstGeom prst="rect">
            <a:avLst/>
          </a:prstGeom>
        </p:spPr>
      </p:pic>
      <p:sp>
        <p:nvSpPr>
          <p:cNvPr id="14" name="Text 10"/>
          <p:cNvSpPr/>
          <p:nvPr/>
        </p:nvSpPr>
        <p:spPr>
          <a:xfrm>
            <a:off x="4398318" y="3208213"/>
            <a:ext cx="2181634" cy="607219"/>
          </a:xfrm>
          <a:prstGeom prst="roundRect">
            <a:avLst>
              <a:gd name="adj" fmla="val 25098"/>
            </a:avLst>
          </a:prstGeom>
          <a:solidFill>
            <a:srgbClr val="F8FAFC"/>
          </a:solidFill>
          <a:ln w="7144">
            <a:solidFill>
              <a:srgbClr val="E2E8F0"/>
            </a:solidFill>
            <a:prstDash val="solid"/>
          </a:ln>
          <a:effectLst>
            <a:outerShdw sx="100000" sy="100000" kx="0" ky="0" algn="bl" rotWithShape="0" blurRad="28575" dist="9525" dir="5400000">
              <a:srgbClr val="000000">
                <a:alpha val="6000"/>
              </a:srgbClr>
            </a:outerShdw>
          </a:effectLst>
        </p:spPr>
        <p:txBody>
          <a:bodyPr wrap="square" rtlCol="0" anchor="ctr"/>
          <a:lstStyle/>
          <a:p>
            <a:pPr indent="0" marL="0">
              <a:buNone/>
            </a:pPr>
            <a:endParaRPr lang="en-US" dirty="0"/>
          </a:p>
        </p:txBody>
      </p:sp>
      <p:sp>
        <p:nvSpPr>
          <p:cNvPr id="15" name="Text 11"/>
          <p:cNvSpPr/>
          <p:nvPr/>
        </p:nvSpPr>
        <p:spPr>
          <a:xfrm>
            <a:off x="4516189" y="3311798"/>
            <a:ext cx="1945891" cy="108299"/>
          </a:xfrm>
          <a:prstGeom prst="rect">
            <a:avLst/>
          </a:prstGeom>
          <a:noFill/>
          <a:ln/>
        </p:spPr>
        <p:txBody>
          <a:bodyPr wrap="none" lIns="0" tIns="0" rIns="0" bIns="0" rtlCol="0" anchor="t">
            <a:normAutofit/>
          </a:bodyPr>
          <a:lstStyle/>
          <a:p>
            <a:pPr algn="l" indent="0" marL="0">
              <a:lnSpc>
                <a:spcPts val="1013"/>
              </a:lnSpc>
              <a:buNone/>
            </a:pPr>
            <a:r>
              <a:rPr lang="en-US" sz="800" spc="28" kern="0" dirty="0">
                <a:solidFill>
                  <a:srgbClr val="64748B"/>
                </a:solidFill>
                <a:latin typeface="Carlito" pitchFamily="34" charset="0"/>
                <a:ea typeface="Carlito" pitchFamily="34" charset="-122"/>
                <a:cs typeface="Carlito" pitchFamily="34" charset="-120"/>
              </a:rPr>
              <a:t>TOTAL INTERNAL LINKS</a:t>
            </a:r>
            <a:endParaRPr lang="en-US" sz="800" dirty="0"/>
          </a:p>
        </p:txBody>
      </p:sp>
      <p:sp>
        <p:nvSpPr>
          <p:cNvPr id="16" name="Text 12"/>
          <p:cNvSpPr/>
          <p:nvPr/>
        </p:nvSpPr>
        <p:spPr>
          <a:xfrm>
            <a:off x="4516189" y="3447529"/>
            <a:ext cx="1101030" cy="264319"/>
          </a:xfrm>
          <a:prstGeom prst="rect">
            <a:avLst/>
          </a:prstGeom>
          <a:noFill/>
          <a:ln/>
        </p:spPr>
        <p:txBody>
          <a:bodyPr wrap="none" lIns="0" tIns="0" rIns="0" bIns="0" rtlCol="0" anchor="t"/>
          <a:lstStyle/>
          <a:p>
            <a:pPr algn="l" indent="0" marL="0">
              <a:lnSpc>
                <a:spcPts val="1800"/>
              </a:lnSpc>
              <a:buNone/>
            </a:pPr>
            <a:r>
              <a:rPr lang="en-US" sz="1800" b="1" dirty="0">
                <a:solidFill>
                  <a:srgbClr val="F97316"/>
                </a:solidFill>
                <a:latin typeface="Liberation Sans Narrow" pitchFamily="34" charset="0"/>
                <a:ea typeface="Liberation Sans Narrow" pitchFamily="34" charset="-122"/>
                <a:cs typeface="Liberation Sans Narrow" pitchFamily="34" charset="-120"/>
              </a:rPr>
              <a:t>1,247</a:t>
            </a:r>
            <a:endParaRPr lang="en-US" sz="1800" dirty="0"/>
          </a:p>
        </p:txBody>
      </p:sp>
      <p:sp>
        <p:nvSpPr>
          <p:cNvPr id="17" name="Text 13"/>
          <p:cNvSpPr/>
          <p:nvPr/>
        </p:nvSpPr>
        <p:spPr>
          <a:xfrm>
            <a:off x="6672821" y="3208213"/>
            <a:ext cx="2181746" cy="607219"/>
          </a:xfrm>
          <a:prstGeom prst="roundRect">
            <a:avLst>
              <a:gd name="adj" fmla="val 25098"/>
            </a:avLst>
          </a:prstGeom>
          <a:solidFill>
            <a:srgbClr val="F8FAFC"/>
          </a:solidFill>
          <a:ln w="7144">
            <a:solidFill>
              <a:srgbClr val="E2E8F0"/>
            </a:solidFill>
            <a:prstDash val="solid"/>
          </a:ln>
          <a:effectLst>
            <a:outerShdw sx="100000" sy="100000" kx="0" ky="0" algn="bl" rotWithShape="0" blurRad="28575" dist="9525" dir="5400000">
              <a:srgbClr val="000000">
                <a:alpha val="6000"/>
              </a:srgbClr>
            </a:outerShdw>
          </a:effectLst>
        </p:spPr>
        <p:txBody>
          <a:bodyPr wrap="square" rtlCol="0" anchor="ctr"/>
          <a:lstStyle/>
          <a:p>
            <a:pPr indent="0" marL="0">
              <a:buNone/>
            </a:pPr>
            <a:endParaRPr lang="en-US" dirty="0"/>
          </a:p>
        </p:txBody>
      </p:sp>
      <p:sp>
        <p:nvSpPr>
          <p:cNvPr id="18" name="Text 14"/>
          <p:cNvSpPr/>
          <p:nvPr/>
        </p:nvSpPr>
        <p:spPr>
          <a:xfrm>
            <a:off x="6790692" y="3311798"/>
            <a:ext cx="1946002" cy="108299"/>
          </a:xfrm>
          <a:prstGeom prst="rect">
            <a:avLst/>
          </a:prstGeom>
          <a:noFill/>
          <a:ln/>
        </p:spPr>
        <p:txBody>
          <a:bodyPr wrap="none" lIns="0" tIns="0" rIns="0" bIns="0" rtlCol="0" anchor="t">
            <a:normAutofit/>
          </a:bodyPr>
          <a:lstStyle/>
          <a:p>
            <a:pPr algn="l" indent="0" marL="0">
              <a:lnSpc>
                <a:spcPts val="1013"/>
              </a:lnSpc>
              <a:buNone/>
            </a:pPr>
            <a:r>
              <a:rPr lang="en-US" sz="800" spc="28" kern="0" dirty="0">
                <a:solidFill>
                  <a:srgbClr val="64748B"/>
                </a:solidFill>
                <a:latin typeface="Carlito" pitchFamily="34" charset="0"/>
                <a:ea typeface="Carlito" pitchFamily="34" charset="-122"/>
                <a:cs typeface="Carlito" pitchFamily="34" charset="-120"/>
              </a:rPr>
              <a:t>PAGES INDEXED</a:t>
            </a:r>
            <a:endParaRPr lang="en-US" sz="800" dirty="0"/>
          </a:p>
        </p:txBody>
      </p:sp>
      <p:sp>
        <p:nvSpPr>
          <p:cNvPr id="19" name="Text 15"/>
          <p:cNvSpPr/>
          <p:nvPr/>
        </p:nvSpPr>
        <p:spPr>
          <a:xfrm>
            <a:off x="6790692" y="3447529"/>
            <a:ext cx="660618" cy="264319"/>
          </a:xfrm>
          <a:prstGeom prst="rect">
            <a:avLst/>
          </a:prstGeom>
          <a:noFill/>
          <a:ln/>
        </p:spPr>
        <p:txBody>
          <a:bodyPr wrap="none" lIns="0" tIns="0" rIns="0" bIns="0" rtlCol="0" anchor="t"/>
          <a:lstStyle/>
          <a:p>
            <a:pPr algn="l" indent="0" marL="0">
              <a:lnSpc>
                <a:spcPts val="1800"/>
              </a:lnSpc>
              <a:buNone/>
            </a:pPr>
            <a:r>
              <a:rPr lang="en-US" sz="1800" b="1" dirty="0">
                <a:solidFill>
                  <a:srgbClr val="0D9488"/>
                </a:solidFill>
                <a:latin typeface="Liberation Sans Narrow" pitchFamily="34" charset="0"/>
                <a:ea typeface="Liberation Sans Narrow" pitchFamily="34" charset="-122"/>
                <a:cs typeface="Liberation Sans Narrow" pitchFamily="34" charset="-120"/>
              </a:rPr>
              <a:t>386</a:t>
            </a:r>
            <a:endParaRPr lang="en-US" sz="1800" dirty="0"/>
          </a:p>
        </p:txBody>
      </p:sp>
      <p:sp>
        <p:nvSpPr>
          <p:cNvPr id="20" name="Text 16"/>
          <p:cNvSpPr/>
          <p:nvPr/>
        </p:nvSpPr>
        <p:spPr>
          <a:xfrm>
            <a:off x="4398318" y="3908301"/>
            <a:ext cx="2181634" cy="607219"/>
          </a:xfrm>
          <a:prstGeom prst="roundRect">
            <a:avLst>
              <a:gd name="adj" fmla="val 25098"/>
            </a:avLst>
          </a:prstGeom>
          <a:solidFill>
            <a:srgbClr val="F8FAFC"/>
          </a:solidFill>
          <a:ln w="7144">
            <a:solidFill>
              <a:srgbClr val="E2E8F0"/>
            </a:solidFill>
            <a:prstDash val="solid"/>
          </a:ln>
          <a:effectLst>
            <a:outerShdw sx="100000" sy="100000" kx="0" ky="0" algn="bl" rotWithShape="0" blurRad="28575" dist="9525" dir="5400000">
              <a:srgbClr val="000000">
                <a:alpha val="6000"/>
              </a:srgbClr>
            </a:outerShdw>
          </a:effectLst>
        </p:spPr>
        <p:txBody>
          <a:bodyPr wrap="square" rtlCol="0" anchor="ctr"/>
          <a:lstStyle/>
          <a:p>
            <a:pPr indent="0" marL="0">
              <a:buNone/>
            </a:pPr>
            <a:endParaRPr lang="en-US" dirty="0"/>
          </a:p>
        </p:txBody>
      </p:sp>
      <p:sp>
        <p:nvSpPr>
          <p:cNvPr id="21" name="Text 17"/>
          <p:cNvSpPr/>
          <p:nvPr/>
        </p:nvSpPr>
        <p:spPr>
          <a:xfrm>
            <a:off x="4516189" y="4011885"/>
            <a:ext cx="1945891" cy="108299"/>
          </a:xfrm>
          <a:prstGeom prst="rect">
            <a:avLst/>
          </a:prstGeom>
          <a:noFill/>
          <a:ln/>
        </p:spPr>
        <p:txBody>
          <a:bodyPr wrap="none" lIns="0" tIns="0" rIns="0" bIns="0" rtlCol="0" anchor="t">
            <a:normAutofit/>
          </a:bodyPr>
          <a:lstStyle/>
          <a:p>
            <a:pPr algn="l" indent="0" marL="0">
              <a:lnSpc>
                <a:spcPts val="1013"/>
              </a:lnSpc>
              <a:buNone/>
            </a:pPr>
            <a:r>
              <a:rPr lang="en-US" sz="800" spc="28" kern="0" dirty="0">
                <a:solidFill>
                  <a:srgbClr val="64748B"/>
                </a:solidFill>
                <a:latin typeface="Carlito" pitchFamily="34" charset="0"/>
                <a:ea typeface="Carlito" pitchFamily="34" charset="-122"/>
                <a:cs typeface="Carlito" pitchFamily="34" charset="-120"/>
              </a:rPr>
              <a:t>ORPHAN PAGES</a:t>
            </a:r>
            <a:endParaRPr lang="en-US" sz="800" dirty="0"/>
          </a:p>
        </p:txBody>
      </p:sp>
      <p:sp>
        <p:nvSpPr>
          <p:cNvPr id="22" name="Text 18"/>
          <p:cNvSpPr/>
          <p:nvPr/>
        </p:nvSpPr>
        <p:spPr>
          <a:xfrm>
            <a:off x="4516189" y="4147617"/>
            <a:ext cx="660618" cy="264319"/>
          </a:xfrm>
          <a:prstGeom prst="rect">
            <a:avLst/>
          </a:prstGeom>
          <a:noFill/>
          <a:ln/>
        </p:spPr>
        <p:txBody>
          <a:bodyPr wrap="none" lIns="0" tIns="0" rIns="0" bIns="0" rtlCol="0" anchor="t"/>
          <a:lstStyle/>
          <a:p>
            <a:pPr algn="l" indent="0" marL="0">
              <a:lnSpc>
                <a:spcPts val="1800"/>
              </a:lnSpc>
              <a:buNone/>
            </a:pPr>
            <a:r>
              <a:rPr lang="en-US" sz="1800" b="1" dirty="0">
                <a:solidFill>
                  <a:srgbClr val="F43F5E"/>
                </a:solidFill>
                <a:latin typeface="Liberation Sans Narrow" pitchFamily="34" charset="0"/>
                <a:ea typeface="Liberation Sans Narrow" pitchFamily="34" charset="-122"/>
                <a:cs typeface="Liberation Sans Narrow" pitchFamily="34" charset="-120"/>
              </a:rPr>
              <a:t>182</a:t>
            </a:r>
            <a:endParaRPr lang="en-US" sz="1800" dirty="0"/>
          </a:p>
        </p:txBody>
      </p:sp>
      <p:sp>
        <p:nvSpPr>
          <p:cNvPr id="23" name="Text 19"/>
          <p:cNvSpPr/>
          <p:nvPr/>
        </p:nvSpPr>
        <p:spPr>
          <a:xfrm>
            <a:off x="6672821" y="3908301"/>
            <a:ext cx="2181746" cy="607219"/>
          </a:xfrm>
          <a:prstGeom prst="roundRect">
            <a:avLst>
              <a:gd name="adj" fmla="val 25098"/>
            </a:avLst>
          </a:prstGeom>
          <a:solidFill>
            <a:srgbClr val="F8FAFC"/>
          </a:solidFill>
          <a:ln w="7144">
            <a:solidFill>
              <a:srgbClr val="E2E8F0"/>
            </a:solidFill>
            <a:prstDash val="solid"/>
          </a:ln>
          <a:effectLst>
            <a:outerShdw sx="100000" sy="100000" kx="0" ky="0" algn="bl" rotWithShape="0" blurRad="28575" dist="9525" dir="5400000">
              <a:srgbClr val="000000">
                <a:alpha val="6000"/>
              </a:srgbClr>
            </a:outerShdw>
          </a:effectLst>
        </p:spPr>
        <p:txBody>
          <a:bodyPr wrap="square" rtlCol="0" anchor="ctr"/>
          <a:lstStyle/>
          <a:p>
            <a:pPr indent="0" marL="0">
              <a:buNone/>
            </a:pPr>
            <a:endParaRPr lang="en-US" dirty="0"/>
          </a:p>
        </p:txBody>
      </p:sp>
      <p:sp>
        <p:nvSpPr>
          <p:cNvPr id="24" name="Text 20"/>
          <p:cNvSpPr/>
          <p:nvPr/>
        </p:nvSpPr>
        <p:spPr>
          <a:xfrm>
            <a:off x="6790692" y="4011885"/>
            <a:ext cx="1946002" cy="108299"/>
          </a:xfrm>
          <a:prstGeom prst="rect">
            <a:avLst/>
          </a:prstGeom>
          <a:noFill/>
          <a:ln/>
        </p:spPr>
        <p:txBody>
          <a:bodyPr wrap="none" lIns="0" tIns="0" rIns="0" bIns="0" rtlCol="0" anchor="t">
            <a:normAutofit/>
          </a:bodyPr>
          <a:lstStyle/>
          <a:p>
            <a:pPr algn="l" indent="0" marL="0">
              <a:lnSpc>
                <a:spcPts val="1013"/>
              </a:lnSpc>
              <a:buNone/>
            </a:pPr>
            <a:r>
              <a:rPr lang="en-US" sz="800" spc="28" kern="0" dirty="0">
                <a:solidFill>
                  <a:srgbClr val="64748B"/>
                </a:solidFill>
                <a:latin typeface="Carlito" pitchFamily="34" charset="0"/>
                <a:ea typeface="Carlito" pitchFamily="34" charset="-122"/>
                <a:cs typeface="Carlito" pitchFamily="34" charset="-120"/>
              </a:rPr>
              <a:t>AVG LINKS/PAGE</a:t>
            </a:r>
            <a:endParaRPr lang="en-US" sz="800" dirty="0"/>
          </a:p>
        </p:txBody>
      </p:sp>
      <p:sp>
        <p:nvSpPr>
          <p:cNvPr id="25" name="Text 21"/>
          <p:cNvSpPr/>
          <p:nvPr/>
        </p:nvSpPr>
        <p:spPr>
          <a:xfrm>
            <a:off x="6790692" y="4147617"/>
            <a:ext cx="660618" cy="264319"/>
          </a:xfrm>
          <a:prstGeom prst="rect">
            <a:avLst/>
          </a:prstGeom>
          <a:noFill/>
          <a:ln/>
        </p:spPr>
        <p:txBody>
          <a:bodyPr wrap="none" lIns="0" tIns="0" rIns="0" bIns="0" rtlCol="0" anchor="t"/>
          <a:lstStyle/>
          <a:p>
            <a:pPr algn="l" indent="0" marL="0">
              <a:lnSpc>
                <a:spcPts val="1800"/>
              </a:lnSpc>
              <a:buNone/>
            </a:pPr>
            <a:r>
              <a:rPr lang="en-US" sz="1800" b="1" dirty="0">
                <a:solidFill>
                  <a:srgbClr val="F59E0B"/>
                </a:solidFill>
                <a:latin typeface="Liberation Sans Narrow" pitchFamily="34" charset="0"/>
                <a:ea typeface="Liberation Sans Narrow" pitchFamily="34" charset="-122"/>
                <a:cs typeface="Liberation Sans Narrow" pitchFamily="34" charset="-120"/>
              </a:rPr>
              <a:t>3.2</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143750" y="-571500"/>
            <a:ext cx="2571750" cy="2571750"/>
          </a:xfrm>
          <a:prstGeom prst="rect">
            <a:avLst/>
          </a:prstGeom>
        </p:spPr>
      </p:pic>
      <p:sp>
        <p:nvSpPr>
          <p:cNvPr id="3" name="Text 0"/>
          <p:cNvSpPr/>
          <p:nvPr/>
        </p:nvSpPr>
        <p:spPr>
          <a:xfrm>
            <a:off x="7143750" y="-571500"/>
            <a:ext cx="2571750" cy="2571750"/>
          </a:xfrm>
          <a:prstGeom prst="ellipse">
            <a:avLst/>
          </a:prstGeom>
          <a:solidFill>
            <a:srgbClr val="FFFFFF">
              <a:alpha val="0"/>
            </a:srgbClr>
          </a:solidFill>
          <a:ln/>
        </p:spPr>
        <p:txBody>
          <a:bodyPr wrap="square" rtlCol="0" anchor="ctr"/>
          <a:lstStyle/>
          <a:p>
            <a:pPr indent="0" marL="0">
              <a:buNone/>
            </a:pPr>
            <a:endParaRPr lang="en-US" dirty="0"/>
          </a:p>
        </p:txBody>
      </p:sp>
      <p:pic>
        <p:nvPicPr>
          <p:cNvPr id="4" name="Image 1" descr="preencoded.png">    </p:cNvPr>
          <p:cNvPicPr>
            <a:picLocks noChangeAspect="1"/>
          </p:cNvPicPr>
          <p:nvPr/>
        </p:nvPicPr>
        <p:blipFill>
          <a:blip r:embed="rId2"/>
          <a:stretch>
            <a:fillRect/>
          </a:stretch>
        </p:blipFill>
        <p:spPr>
          <a:xfrm>
            <a:off x="-428625" y="3571875"/>
            <a:ext cx="2000250" cy="2000250"/>
          </a:xfrm>
          <a:prstGeom prst="rect">
            <a:avLst/>
          </a:prstGeom>
        </p:spPr>
      </p:pic>
      <p:sp>
        <p:nvSpPr>
          <p:cNvPr id="5" name="Text 1"/>
          <p:cNvSpPr/>
          <p:nvPr/>
        </p:nvSpPr>
        <p:spPr>
          <a:xfrm>
            <a:off x="-428625" y="3571875"/>
            <a:ext cx="2000250" cy="2000250"/>
          </a:xfrm>
          <a:prstGeom prst="ellipse">
            <a:avLst/>
          </a:prstGeom>
          <a:solidFill>
            <a:srgbClr val="FFFFFF">
              <a:alpha val="0"/>
            </a:srgbClr>
          </a:solidFill>
          <a:ln/>
        </p:spPr>
        <p:txBody>
          <a:bodyPr wrap="square" rtlCol="0" anchor="ctr"/>
          <a:lstStyle/>
          <a:p>
            <a:pPr indent="0" marL="0">
              <a:buNone/>
            </a:pPr>
            <a:endParaRPr lang="en-US" dirty="0"/>
          </a:p>
        </p:txBody>
      </p:sp>
      <p:sp>
        <p:nvSpPr>
          <p:cNvPr id="6" name="Text 2"/>
          <p:cNvSpPr/>
          <p:nvPr/>
        </p:nvSpPr>
        <p:spPr>
          <a:xfrm>
            <a:off x="514350" y="457200"/>
            <a:ext cx="8521065" cy="416624"/>
          </a:xfrm>
          <a:prstGeom prst="rect">
            <a:avLst/>
          </a:prstGeom>
          <a:noFill/>
          <a:ln/>
        </p:spPr>
        <p:txBody>
          <a:bodyPr wrap="none" lIns="0" tIns="0" rIns="0" bIns="0" rtlCol="0" anchor="t"/>
          <a:lstStyle/>
          <a:p>
            <a:pPr algn="l" indent="0" marL="0">
              <a:lnSpc>
                <a:spcPts val="3038"/>
              </a:lnSpc>
              <a:buNone/>
            </a:pPr>
            <a:r>
              <a:rPr lang="en-US" sz="2025" b="1" spc="-40" kern="0" dirty="0">
                <a:solidFill>
                  <a:srgbClr val="1E293B"/>
                </a:solidFill>
                <a:latin typeface="Carlito" pitchFamily="34" charset="0"/>
                <a:ea typeface="Carlito" pitchFamily="34" charset="-122"/>
                <a:cs typeface="Carlito" pitchFamily="34" charset="-120"/>
              </a:rPr>
              <a:t>Never Lose a Page Again</a:t>
            </a:r>
            <a:endParaRPr lang="en-US" sz="2025" dirty="0"/>
          </a:p>
        </p:txBody>
      </p:sp>
      <p:sp>
        <p:nvSpPr>
          <p:cNvPr id="7" name="Text 3"/>
          <p:cNvSpPr/>
          <p:nvPr/>
        </p:nvSpPr>
        <p:spPr>
          <a:xfrm>
            <a:off x="514350" y="928688"/>
            <a:ext cx="4572000" cy="444350"/>
          </a:xfrm>
          <a:prstGeom prst="rect">
            <a:avLst/>
          </a:prstGeom>
          <a:noFill/>
          <a:ln/>
        </p:spPr>
        <p:txBody>
          <a:bodyPr wrap="square" lIns="0" tIns="0" rIns="0" bIns="0" rtlCol="0" anchor="t"/>
          <a:lstStyle/>
          <a:p>
            <a:pPr algn="l" indent="0" marL="0">
              <a:lnSpc>
                <a:spcPts val="1620"/>
              </a:lnSpc>
              <a:buNone/>
            </a:pPr>
            <a:r>
              <a:rPr lang="en-US" sz="1013" dirty="0">
                <a:solidFill>
                  <a:srgbClr val="64748B"/>
                </a:solidFill>
                <a:latin typeface="Carlito" pitchFamily="34" charset="0"/>
                <a:ea typeface="Carlito" pitchFamily="34" charset="-122"/>
                <a:cs typeface="Carlito" pitchFamily="34" charset="-120"/>
              </a:rPr>
              <a:t>Orphan pages have zero incoming internal links — Google may never discover them.</a:t>
            </a:r>
            <a:endParaRPr lang="en-US" sz="1013" dirty="0"/>
          </a:p>
        </p:txBody>
      </p:sp>
      <p:sp>
        <p:nvSpPr>
          <p:cNvPr id="8" name="Text 4"/>
          <p:cNvSpPr/>
          <p:nvPr/>
        </p:nvSpPr>
        <p:spPr>
          <a:xfrm>
            <a:off x="2208446" y="1791665"/>
            <a:ext cx="1351017" cy="239916"/>
          </a:xfrm>
          <a:prstGeom prst="roundRect">
            <a:avLst>
              <a:gd name="adj" fmla="val 39697425"/>
            </a:avLst>
          </a:prstGeom>
          <a:solidFill>
            <a:srgbClr val="FFF1F2"/>
          </a:solidFill>
          <a:ln/>
        </p:spPr>
        <p:txBody>
          <a:bodyPr wrap="square" rtlCol="0" anchor="ctr"/>
          <a:lstStyle/>
          <a:p>
            <a:pPr indent="0" marL="0">
              <a:buNone/>
            </a:pPr>
            <a:endParaRPr lang="en-US" dirty="0"/>
          </a:p>
        </p:txBody>
      </p:sp>
      <p:sp>
        <p:nvSpPr>
          <p:cNvPr id="9" name="Text 5"/>
          <p:cNvSpPr/>
          <p:nvPr/>
        </p:nvSpPr>
        <p:spPr>
          <a:xfrm>
            <a:off x="2231306" y="1804467"/>
            <a:ext cx="1305297" cy="214313"/>
          </a:xfrm>
          <a:prstGeom prst="rect">
            <a:avLst/>
          </a:prstGeom>
          <a:noFill/>
          <a:ln/>
        </p:spPr>
        <p:txBody>
          <a:bodyPr wrap="none" lIns="0" tIns="0" rIns="0" bIns="0" rtlCol="0" anchor="ctr"/>
          <a:lstStyle/>
          <a:p>
            <a:pPr algn="ctr" indent="0" marL="0">
              <a:lnSpc>
                <a:spcPts val="1013"/>
              </a:lnSpc>
              <a:buNone/>
            </a:pPr>
            <a:r>
              <a:rPr lang="en-US" sz="800" b="1" spc="27" kern="0" dirty="0">
                <a:solidFill>
                  <a:srgbClr val="F43F5E"/>
                </a:solidFill>
                <a:latin typeface="Carlito" pitchFamily="34" charset="0"/>
                <a:ea typeface="Carlito" pitchFamily="34" charset="-122"/>
                <a:cs typeface="Carlito" pitchFamily="34" charset="-120"/>
              </a:rPr>
              <a:t>INDUSTRY AVERAGE</a:t>
            </a:r>
            <a:endParaRPr lang="en-US" sz="800" dirty="0"/>
          </a:p>
        </p:txBody>
      </p:sp>
      <p:sp>
        <p:nvSpPr>
          <p:cNvPr id="10" name="Text 6"/>
          <p:cNvSpPr/>
          <p:nvPr/>
        </p:nvSpPr>
        <p:spPr>
          <a:xfrm>
            <a:off x="3650903" y="1625873"/>
            <a:ext cx="1651635" cy="617220"/>
          </a:xfrm>
          <a:prstGeom prst="rect">
            <a:avLst/>
          </a:prstGeom>
          <a:noFill/>
          <a:ln/>
        </p:spPr>
        <p:txBody>
          <a:bodyPr wrap="none" lIns="0" tIns="0" rIns="0" bIns="0" rtlCol="0" anchor="t"/>
          <a:lstStyle/>
          <a:p>
            <a:pPr algn="l" indent="0" marL="0">
              <a:lnSpc>
                <a:spcPts val="4500"/>
              </a:lnSpc>
              <a:buNone/>
            </a:pPr>
            <a:r>
              <a:rPr lang="en-US" sz="4500" b="1" dirty="0">
                <a:solidFill>
                  <a:srgbClr val="F43F5E"/>
                </a:solidFill>
                <a:latin typeface="Liberation Sans Narrow" pitchFamily="34" charset="0"/>
                <a:ea typeface="Liberation Sans Narrow" pitchFamily="34" charset="-122"/>
                <a:cs typeface="Liberation Sans Narrow" pitchFamily="34" charset="-120"/>
              </a:rPr>
              <a:t>47%</a:t>
            </a:r>
            <a:endParaRPr lang="en-US" sz="4500" dirty="0"/>
          </a:p>
        </p:txBody>
      </p:sp>
      <p:sp>
        <p:nvSpPr>
          <p:cNvPr id="11" name="Text 7"/>
          <p:cNvSpPr/>
          <p:nvPr/>
        </p:nvSpPr>
        <p:spPr>
          <a:xfrm>
            <a:off x="4797475" y="1804467"/>
            <a:ext cx="3832175" cy="231458"/>
          </a:xfrm>
          <a:prstGeom prst="rect">
            <a:avLst/>
          </a:prstGeom>
          <a:noFill/>
          <a:ln/>
        </p:spPr>
        <p:txBody>
          <a:bodyPr wrap="none" lIns="0" tIns="0" rIns="0" bIns="0" rtlCol="0" anchor="t"/>
          <a:lstStyle/>
          <a:p>
            <a:pPr algn="l" indent="0" marL="0">
              <a:lnSpc>
                <a:spcPts val="1688"/>
              </a:lnSpc>
              <a:buNone/>
            </a:pPr>
            <a:r>
              <a:rPr lang="en-US" sz="1125" dirty="0">
                <a:solidFill>
                  <a:srgbClr val="64748B"/>
                </a:solidFill>
                <a:latin typeface="Carlito" pitchFamily="34" charset="0"/>
                <a:ea typeface="Carlito" pitchFamily="34" charset="-122"/>
                <a:cs typeface="Carlito" pitchFamily="34" charset="-120"/>
              </a:rPr>
              <a:t>of website pages are orphans</a:t>
            </a:r>
            <a:endParaRPr lang="en-US" sz="1125" dirty="0"/>
          </a:p>
        </p:txBody>
      </p:sp>
      <p:sp>
        <p:nvSpPr>
          <p:cNvPr id="12" name="Text 8"/>
          <p:cNvSpPr/>
          <p:nvPr/>
        </p:nvSpPr>
        <p:spPr>
          <a:xfrm>
            <a:off x="517922" y="2716857"/>
            <a:ext cx="2583582" cy="1965871"/>
          </a:xfrm>
          <a:prstGeom prst="roundRect">
            <a:avLst>
              <a:gd name="adj" fmla="val 7752"/>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13" name="Text 9"/>
          <p:cNvSpPr/>
          <p:nvPr/>
        </p:nvSpPr>
        <p:spPr>
          <a:xfrm>
            <a:off x="692944" y="2920454"/>
            <a:ext cx="314325" cy="314325"/>
          </a:xfrm>
          <a:prstGeom prst="roundRect">
            <a:avLst>
              <a:gd name="adj" fmla="val 36364"/>
            </a:avLst>
          </a:prstGeom>
          <a:solidFill>
            <a:srgbClr val="FFF1F2"/>
          </a:solidFill>
          <a:ln/>
        </p:spPr>
        <p:txBody>
          <a:bodyPr wrap="square" rtlCol="0" anchor="ctr"/>
          <a:lstStyle/>
          <a:p>
            <a:pPr indent="0" marL="0">
              <a:buNone/>
            </a:pPr>
            <a:endParaRPr lang="en-US" dirty="0"/>
          </a:p>
        </p:txBody>
      </p:sp>
      <p:sp>
        <p:nvSpPr>
          <p:cNvPr id="14" name="Text 10"/>
          <p:cNvSpPr/>
          <p:nvPr/>
        </p:nvSpPr>
        <p:spPr>
          <a:xfrm>
            <a:off x="725805" y="2953316"/>
            <a:ext cx="248602" cy="248602"/>
          </a:xfrm>
          <a:prstGeom prst="rect">
            <a:avLst/>
          </a:prstGeom>
          <a:noFill/>
          <a:ln/>
        </p:spPr>
        <p:txBody>
          <a:bodyPr wrap="none" lIns="0" tIns="0" rIns="0" bIns="0" rtlCol="0" anchor="ctr"/>
          <a:lstStyle/>
          <a:p>
            <a:pPr algn="ctr" indent="0" marL="0">
              <a:buNone/>
            </a:pPr>
            <a:r>
              <a:rPr lang="en-US" sz="1688" dirty="0">
                <a:solidFill>
                  <a:srgbClr val="F43F5E"/>
                </a:solidFill>
                <a:latin typeface="Segoe UI Symbol" pitchFamily="34" charset="0"/>
                <a:ea typeface="Segoe UI Symbol" pitchFamily="34" charset="-122"/>
                <a:cs typeface="Segoe UI Symbol" pitchFamily="34" charset="-120"/>
              </a:rPr>
              <a:t>⚠</a:t>
            </a:r>
            <a:endParaRPr lang="en-US" sz="1688" dirty="0"/>
          </a:p>
        </p:txBody>
      </p:sp>
      <p:sp>
        <p:nvSpPr>
          <p:cNvPr id="15" name="Text 11"/>
          <p:cNvSpPr/>
          <p:nvPr/>
        </p:nvSpPr>
        <p:spPr>
          <a:xfrm>
            <a:off x="692944" y="3349079"/>
            <a:ext cx="1625008" cy="254603"/>
          </a:xfrm>
          <a:prstGeom prst="rect">
            <a:avLst/>
          </a:prstGeom>
          <a:noFill/>
          <a:ln/>
        </p:spPr>
        <p:txBody>
          <a:bodyPr wrap="none" lIns="0" tIns="0" rIns="0" bIns="0" rtlCol="0" anchor="t"/>
          <a:lstStyle/>
          <a:p>
            <a:pPr algn="l" indent="0" marL="0">
              <a:lnSpc>
                <a:spcPts val="1856"/>
              </a:lnSpc>
              <a:buNone/>
            </a:pPr>
            <a:r>
              <a:rPr lang="en-US" sz="1238" b="1" dirty="0">
                <a:solidFill>
                  <a:srgbClr val="1E293B"/>
                </a:solidFill>
                <a:latin typeface="Carlito" pitchFamily="34" charset="0"/>
                <a:ea typeface="Carlito" pitchFamily="34" charset="-122"/>
                <a:cs typeface="Carlito" pitchFamily="34" charset="-120"/>
              </a:rPr>
              <a:t>Instant Detection</a:t>
            </a:r>
            <a:endParaRPr lang="en-US" sz="1238" dirty="0"/>
          </a:p>
        </p:txBody>
      </p:sp>
      <p:sp>
        <p:nvSpPr>
          <p:cNvPr id="16" name="Text 12"/>
          <p:cNvSpPr/>
          <p:nvPr/>
        </p:nvSpPr>
        <p:spPr>
          <a:xfrm>
            <a:off x="692944" y="3656261"/>
            <a:ext cx="2233538" cy="822871"/>
          </a:xfrm>
          <a:prstGeom prst="rect">
            <a:avLst/>
          </a:prstGeom>
          <a:noFill/>
          <a:ln/>
        </p:spPr>
        <p:txBody>
          <a:bodyPr wrap="square" lIns="0" tIns="0" rIns="0" bIns="0" rtlCol="0" anchor="t"/>
          <a:lstStyle/>
          <a:p>
            <a:pPr algn="l" indent="0" marL="0">
              <a:lnSpc>
                <a:spcPts val="1620"/>
              </a:lnSpc>
              <a:buNone/>
            </a:pPr>
            <a:r>
              <a:rPr lang="en-US" sz="1013" dirty="0">
                <a:solidFill>
                  <a:srgbClr val="64748B"/>
                </a:solidFill>
                <a:latin typeface="Carlito" pitchFamily="34" charset="0"/>
                <a:ea typeface="Carlito" pitchFamily="34" charset="-122"/>
                <a:cs typeface="Carlito" pitchFamily="34" charset="-120"/>
              </a:rPr>
              <a:t>LinkForge flags every orphan page with a warning badge across all views — Pages, Suggestions, and Analytics graph.</a:t>
            </a:r>
            <a:endParaRPr lang="en-US" sz="1013" dirty="0"/>
          </a:p>
        </p:txBody>
      </p:sp>
      <p:sp>
        <p:nvSpPr>
          <p:cNvPr id="17" name="Text 13"/>
          <p:cNvSpPr/>
          <p:nvPr/>
        </p:nvSpPr>
        <p:spPr>
          <a:xfrm>
            <a:off x="3280097" y="2716857"/>
            <a:ext cx="2583693" cy="1965871"/>
          </a:xfrm>
          <a:prstGeom prst="roundRect">
            <a:avLst>
              <a:gd name="adj" fmla="val 7752"/>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18" name="Text 14"/>
          <p:cNvSpPr/>
          <p:nvPr/>
        </p:nvSpPr>
        <p:spPr>
          <a:xfrm>
            <a:off x="3455119" y="2920454"/>
            <a:ext cx="314325" cy="314325"/>
          </a:xfrm>
          <a:prstGeom prst="roundRect">
            <a:avLst>
              <a:gd name="adj" fmla="val 36364"/>
            </a:avLst>
          </a:prstGeom>
          <a:solidFill>
            <a:srgbClr val="FFF7ED"/>
          </a:solidFill>
          <a:ln/>
        </p:spPr>
        <p:txBody>
          <a:bodyPr wrap="square" rtlCol="0" anchor="ctr"/>
          <a:lstStyle/>
          <a:p>
            <a:pPr indent="0" marL="0">
              <a:buNone/>
            </a:pPr>
            <a:endParaRPr lang="en-US" dirty="0"/>
          </a:p>
        </p:txBody>
      </p:sp>
      <p:sp>
        <p:nvSpPr>
          <p:cNvPr id="19" name="Text 15"/>
          <p:cNvSpPr/>
          <p:nvPr/>
        </p:nvSpPr>
        <p:spPr>
          <a:xfrm>
            <a:off x="3487981" y="2953316"/>
            <a:ext cx="248602" cy="248602"/>
          </a:xfrm>
          <a:prstGeom prst="rect">
            <a:avLst/>
          </a:prstGeom>
          <a:noFill/>
          <a:ln/>
        </p:spPr>
        <p:txBody>
          <a:bodyPr wrap="none" lIns="0" tIns="0" rIns="0" bIns="0" rtlCol="0" anchor="ctr"/>
          <a:lstStyle/>
          <a:p>
            <a:pPr algn="ctr" indent="0" marL="0">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20" name="Text 16"/>
          <p:cNvSpPr/>
          <p:nvPr/>
        </p:nvSpPr>
        <p:spPr>
          <a:xfrm>
            <a:off x="3455119" y="3349079"/>
            <a:ext cx="1282951" cy="254603"/>
          </a:xfrm>
          <a:prstGeom prst="rect">
            <a:avLst/>
          </a:prstGeom>
          <a:noFill/>
          <a:ln/>
        </p:spPr>
        <p:txBody>
          <a:bodyPr wrap="none" lIns="0" tIns="0" rIns="0" bIns="0" rtlCol="0" anchor="t"/>
          <a:lstStyle/>
          <a:p>
            <a:pPr algn="l" indent="0" marL="0">
              <a:lnSpc>
                <a:spcPts val="1856"/>
              </a:lnSpc>
              <a:buNone/>
            </a:pPr>
            <a:r>
              <a:rPr lang="en-US" sz="1238" b="1" dirty="0">
                <a:solidFill>
                  <a:srgbClr val="1E293B"/>
                </a:solidFill>
                <a:latin typeface="Carlito" pitchFamily="34" charset="0"/>
                <a:ea typeface="Carlito" pitchFamily="34" charset="-122"/>
                <a:cs typeface="Carlito" pitchFamily="34" charset="-120"/>
              </a:rPr>
              <a:t>Filter &amp; Sort</a:t>
            </a:r>
            <a:endParaRPr lang="en-US" sz="1238" dirty="0"/>
          </a:p>
        </p:txBody>
      </p:sp>
      <p:sp>
        <p:nvSpPr>
          <p:cNvPr id="21" name="Text 17"/>
          <p:cNvSpPr/>
          <p:nvPr/>
        </p:nvSpPr>
        <p:spPr>
          <a:xfrm>
            <a:off x="3455119" y="3656261"/>
            <a:ext cx="2233650" cy="822871"/>
          </a:xfrm>
          <a:prstGeom prst="rect">
            <a:avLst/>
          </a:prstGeom>
          <a:noFill/>
          <a:ln/>
        </p:spPr>
        <p:txBody>
          <a:bodyPr wrap="square" lIns="0" tIns="0" rIns="0" bIns="0" rtlCol="0" anchor="t"/>
          <a:lstStyle/>
          <a:p>
            <a:pPr algn="l" indent="0" marL="0">
              <a:lnSpc>
                <a:spcPts val="1620"/>
              </a:lnSpc>
              <a:buNone/>
            </a:pPr>
            <a:r>
              <a:rPr lang="en-US" sz="1013" dirty="0">
                <a:solidFill>
                  <a:srgbClr val="64748B"/>
                </a:solidFill>
                <a:latin typeface="Carlito" pitchFamily="34" charset="0"/>
                <a:ea typeface="Carlito" pitchFamily="34" charset="-122"/>
                <a:cs typeface="Carlito" pitchFamily="34" charset="-120"/>
              </a:rPr>
              <a:t>Quickly filter to see only orphan pages. Sort by word count, URL, or title to prioritize which to link first.</a:t>
            </a:r>
            <a:endParaRPr lang="en-US" sz="1013" dirty="0"/>
          </a:p>
        </p:txBody>
      </p:sp>
      <p:sp>
        <p:nvSpPr>
          <p:cNvPr id="22" name="Text 18"/>
          <p:cNvSpPr/>
          <p:nvPr/>
        </p:nvSpPr>
        <p:spPr>
          <a:xfrm>
            <a:off x="6042385" y="2716857"/>
            <a:ext cx="2583582" cy="1965871"/>
          </a:xfrm>
          <a:prstGeom prst="roundRect">
            <a:avLst>
              <a:gd name="adj" fmla="val 7752"/>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23" name="Text 19"/>
          <p:cNvSpPr/>
          <p:nvPr/>
        </p:nvSpPr>
        <p:spPr>
          <a:xfrm>
            <a:off x="6217407" y="2920454"/>
            <a:ext cx="314325" cy="314325"/>
          </a:xfrm>
          <a:prstGeom prst="roundRect">
            <a:avLst>
              <a:gd name="adj" fmla="val 36364"/>
            </a:avLst>
          </a:prstGeom>
          <a:solidFill>
            <a:srgbClr val="ECFDF5"/>
          </a:solidFill>
          <a:ln/>
        </p:spPr>
        <p:txBody>
          <a:bodyPr wrap="square" rtlCol="0" anchor="ctr"/>
          <a:lstStyle/>
          <a:p>
            <a:pPr indent="0" marL="0">
              <a:buNone/>
            </a:pPr>
            <a:endParaRPr lang="en-US" dirty="0"/>
          </a:p>
        </p:txBody>
      </p:sp>
      <p:sp>
        <p:nvSpPr>
          <p:cNvPr id="24" name="Text 20"/>
          <p:cNvSpPr/>
          <p:nvPr/>
        </p:nvSpPr>
        <p:spPr>
          <a:xfrm>
            <a:off x="6250268" y="2953316"/>
            <a:ext cx="248602" cy="248602"/>
          </a:xfrm>
          <a:prstGeom prst="rect">
            <a:avLst/>
          </a:prstGeom>
          <a:noFill/>
          <a:ln/>
        </p:spPr>
        <p:txBody>
          <a:bodyPr wrap="none" lIns="0" tIns="0" rIns="0" bIns="0" rtlCol="0" anchor="ctr"/>
          <a:lstStyle/>
          <a:p>
            <a:pPr algn="ctr" indent="0" marL="0">
              <a:buNone/>
            </a:pPr>
            <a:r>
              <a:rPr lang="en-US" sz="1688" dirty="0">
                <a:solidFill>
                  <a:srgbClr val="10B981"/>
                </a:solidFill>
                <a:latin typeface="Segoe UI Symbol" pitchFamily="34" charset="0"/>
                <a:ea typeface="Segoe UI Symbol" pitchFamily="34" charset="-122"/>
                <a:cs typeface="Segoe UI Symbol" pitchFamily="34" charset="-120"/>
              </a:rPr>
              <a:t>⚡</a:t>
            </a:r>
            <a:endParaRPr lang="en-US" sz="1688" dirty="0"/>
          </a:p>
        </p:txBody>
      </p:sp>
      <p:sp>
        <p:nvSpPr>
          <p:cNvPr id="25" name="Text 21"/>
          <p:cNvSpPr/>
          <p:nvPr/>
        </p:nvSpPr>
        <p:spPr>
          <a:xfrm>
            <a:off x="6217407" y="3349079"/>
            <a:ext cx="1354117" cy="254603"/>
          </a:xfrm>
          <a:prstGeom prst="rect">
            <a:avLst/>
          </a:prstGeom>
          <a:noFill/>
          <a:ln/>
        </p:spPr>
        <p:txBody>
          <a:bodyPr wrap="none" lIns="0" tIns="0" rIns="0" bIns="0" rtlCol="0" anchor="t"/>
          <a:lstStyle/>
          <a:p>
            <a:pPr algn="l" indent="0" marL="0">
              <a:lnSpc>
                <a:spcPts val="1856"/>
              </a:lnSpc>
              <a:buNone/>
            </a:pPr>
            <a:r>
              <a:rPr lang="en-US" sz="1238" b="1" dirty="0">
                <a:solidFill>
                  <a:srgbClr val="1E293B"/>
                </a:solidFill>
                <a:latin typeface="Carlito" pitchFamily="34" charset="0"/>
                <a:ea typeface="Carlito" pitchFamily="34" charset="-122"/>
                <a:cs typeface="Carlito" pitchFamily="34" charset="-120"/>
              </a:rPr>
              <a:t>One-Click Fix</a:t>
            </a:r>
            <a:endParaRPr lang="en-US" sz="1238" dirty="0"/>
          </a:p>
        </p:txBody>
      </p:sp>
      <p:sp>
        <p:nvSpPr>
          <p:cNvPr id="26" name="Text 22"/>
          <p:cNvSpPr/>
          <p:nvPr/>
        </p:nvSpPr>
        <p:spPr>
          <a:xfrm>
            <a:off x="6217407" y="3656261"/>
            <a:ext cx="2233538" cy="666525"/>
          </a:xfrm>
          <a:prstGeom prst="rect">
            <a:avLst/>
          </a:prstGeom>
          <a:noFill/>
          <a:ln/>
        </p:spPr>
        <p:txBody>
          <a:bodyPr wrap="square" lIns="0" tIns="0" rIns="0" bIns="0" rtlCol="0" anchor="t"/>
          <a:lstStyle/>
          <a:p>
            <a:pPr algn="l" indent="0" marL="0">
              <a:lnSpc>
                <a:spcPts val="1620"/>
              </a:lnSpc>
              <a:buNone/>
            </a:pPr>
            <a:r>
              <a:rPr lang="en-US" sz="1013" dirty="0">
                <a:solidFill>
                  <a:srgbClr val="64748B"/>
                </a:solidFill>
                <a:latin typeface="Carlito" pitchFamily="34" charset="0"/>
                <a:ea typeface="Carlito" pitchFamily="34" charset="-122"/>
                <a:cs typeface="Carlito" pitchFamily="34" charset="-120"/>
              </a:rPr>
              <a:t>AI suggests the best internal links for each orphan page. Approve and export — done.</a:t>
            </a:r>
            <a:endParaRPr lang="en-US" sz="101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86625" y="3596878"/>
            <a:ext cx="2286000" cy="2286000"/>
          </a:xfrm>
          <a:prstGeom prst="rect">
            <a:avLst/>
          </a:prstGeom>
        </p:spPr>
      </p:pic>
      <p:sp>
        <p:nvSpPr>
          <p:cNvPr id="3" name="Text 0"/>
          <p:cNvSpPr/>
          <p:nvPr/>
        </p:nvSpPr>
        <p:spPr>
          <a:xfrm>
            <a:off x="7286625" y="3596878"/>
            <a:ext cx="2286000" cy="2286000"/>
          </a:xfrm>
          <a:prstGeom prst="ellipse">
            <a:avLst/>
          </a:prstGeom>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45720" y="425053"/>
            <a:ext cx="8636000" cy="416624"/>
          </a:xfrm>
          <a:prstGeom prst="rect">
            <a:avLst/>
          </a:prstGeom>
          <a:noFill/>
          <a:ln/>
        </p:spPr>
        <p:txBody>
          <a:bodyPr wrap="square" lIns="0" tIns="0" rIns="0" bIns="0" rtlCol="0" anchor="t"/>
          <a:lstStyle/>
          <a:p>
            <a:pPr algn="ctr" indent="0" marL="0">
              <a:lnSpc>
                <a:spcPts val="3038"/>
              </a:lnSpc>
              <a:buNone/>
            </a:pPr>
            <a:r>
              <a:rPr lang="en-US" sz="2025" b="1" spc="-40" kern="0" dirty="0">
                <a:solidFill>
                  <a:srgbClr val="1E293B"/>
                </a:solidFill>
                <a:latin typeface="Carlito" pitchFamily="34" charset="0"/>
                <a:ea typeface="Carlito" pitchFamily="34" charset="-122"/>
                <a:cs typeface="Carlito" pitchFamily="34" charset="-120"/>
              </a:rPr>
              <a:t>Simple, Transparent Pricing</a:t>
            </a:r>
            <a:endParaRPr lang="en-US" sz="2025" dirty="0"/>
          </a:p>
        </p:txBody>
      </p:sp>
      <p:sp>
        <p:nvSpPr>
          <p:cNvPr id="5" name="Text 2"/>
          <p:cNvSpPr/>
          <p:nvPr/>
        </p:nvSpPr>
        <p:spPr>
          <a:xfrm>
            <a:off x="128016" y="867966"/>
            <a:ext cx="8636000" cy="208312"/>
          </a:xfrm>
          <a:prstGeom prst="rect">
            <a:avLst/>
          </a:prstGeom>
          <a:noFill/>
          <a:ln/>
        </p:spPr>
        <p:txBody>
          <a:bodyPr wrap="square" lIns="0" tIns="0" rIns="0" bIns="0" rtlCol="0" anchor="t"/>
          <a:lstStyle/>
          <a:p>
            <a:pPr algn="ctr" indent="0" marL="0">
              <a:lnSpc>
                <a:spcPts val="1519"/>
              </a:lnSpc>
              <a:buNone/>
            </a:pPr>
            <a:r>
              <a:rPr lang="en-US" sz="1013" dirty="0">
                <a:solidFill>
                  <a:srgbClr val="64748B"/>
                </a:solidFill>
                <a:latin typeface="Carlito" pitchFamily="34" charset="0"/>
                <a:ea typeface="Carlito" pitchFamily="34" charset="-122"/>
                <a:cs typeface="Carlito" pitchFamily="34" charset="-120"/>
              </a:rPr>
              <a:t>Start free. Upgrade when you're ready.</a:t>
            </a:r>
            <a:endParaRPr lang="en-US" sz="1013" dirty="0"/>
          </a:p>
        </p:txBody>
      </p:sp>
      <p:sp>
        <p:nvSpPr>
          <p:cNvPr id="6" name="Text 3"/>
          <p:cNvSpPr/>
          <p:nvPr/>
        </p:nvSpPr>
        <p:spPr>
          <a:xfrm>
            <a:off x="457200" y="1346597"/>
            <a:ext cx="1950244" cy="3421856"/>
          </a:xfrm>
          <a:prstGeom prst="roundRect">
            <a:avLst>
              <a:gd name="adj" fmla="val 7814"/>
            </a:avLst>
          </a:prstGeom>
          <a:solidFill>
            <a:srgbClr val="F8FAFC"/>
          </a:solidFill>
          <a:ln/>
        </p:spPr>
        <p:txBody>
          <a:bodyPr wrap="square" rtlCol="0" anchor="ctr"/>
          <a:lstStyle/>
          <a:p>
            <a:pPr indent="0" marL="0">
              <a:buNone/>
            </a:pPr>
            <a:endParaRPr lang="en-US" dirty="0"/>
          </a:p>
        </p:txBody>
      </p:sp>
      <p:sp>
        <p:nvSpPr>
          <p:cNvPr id="7" name="Shape 4"/>
          <p:cNvSpPr/>
          <p:nvPr/>
        </p:nvSpPr>
        <p:spPr>
          <a:xfrm>
            <a:off x="457200" y="1360884"/>
            <a:ext cx="1950244" cy="0"/>
          </a:xfrm>
          <a:prstGeom prst="line">
            <a:avLst/>
          </a:prstGeom>
          <a:noFill/>
          <a:ln w="28575">
            <a:solidFill>
              <a:srgbClr val="10B981"/>
            </a:solidFill>
            <a:prstDash val="solid"/>
          </a:ln>
        </p:spPr>
      </p:sp>
      <p:sp>
        <p:nvSpPr>
          <p:cNvPr id="8" name="Shape 5"/>
          <p:cNvSpPr/>
          <p:nvPr/>
        </p:nvSpPr>
        <p:spPr>
          <a:xfrm>
            <a:off x="2403872" y="1346597"/>
            <a:ext cx="0" cy="3421856"/>
          </a:xfrm>
          <a:prstGeom prst="line">
            <a:avLst/>
          </a:prstGeom>
          <a:noFill/>
          <a:ln w="7144">
            <a:solidFill>
              <a:srgbClr val="E2E8F0"/>
            </a:solidFill>
            <a:prstDash val="solid"/>
          </a:ln>
        </p:spPr>
      </p:sp>
      <p:sp>
        <p:nvSpPr>
          <p:cNvPr id="9" name="Shape 6"/>
          <p:cNvSpPr/>
          <p:nvPr/>
        </p:nvSpPr>
        <p:spPr>
          <a:xfrm>
            <a:off x="457200" y="4764881"/>
            <a:ext cx="1950244" cy="0"/>
          </a:xfrm>
          <a:prstGeom prst="line">
            <a:avLst/>
          </a:prstGeom>
          <a:noFill/>
          <a:ln w="7144">
            <a:solidFill>
              <a:srgbClr val="E2E8F0"/>
            </a:solidFill>
            <a:prstDash val="solid"/>
          </a:ln>
        </p:spPr>
      </p:sp>
      <p:sp>
        <p:nvSpPr>
          <p:cNvPr id="10" name="Shape 7"/>
          <p:cNvSpPr/>
          <p:nvPr/>
        </p:nvSpPr>
        <p:spPr>
          <a:xfrm>
            <a:off x="460772" y="1346597"/>
            <a:ext cx="0" cy="3421856"/>
          </a:xfrm>
          <a:prstGeom prst="line">
            <a:avLst/>
          </a:prstGeom>
          <a:noFill/>
          <a:ln w="7144">
            <a:solidFill>
              <a:srgbClr val="E2E8F0"/>
            </a:solidFill>
            <a:prstDash val="solid"/>
          </a:ln>
        </p:spPr>
      </p:sp>
      <p:sp>
        <p:nvSpPr>
          <p:cNvPr id="11" name="Text 8"/>
          <p:cNvSpPr/>
          <p:nvPr/>
        </p:nvSpPr>
        <p:spPr>
          <a:xfrm>
            <a:off x="612934" y="1534192"/>
            <a:ext cx="960008" cy="232029"/>
          </a:xfrm>
          <a:prstGeom prst="roundRect">
            <a:avLst>
              <a:gd name="adj" fmla="val 41046798"/>
            </a:avLst>
          </a:prstGeom>
          <a:solidFill>
            <a:srgbClr val="ECFDF5"/>
          </a:solidFill>
          <a:ln/>
        </p:spPr>
        <p:txBody>
          <a:bodyPr wrap="square" rtlCol="0" anchor="ctr"/>
          <a:lstStyle/>
          <a:p>
            <a:pPr indent="0" marL="0">
              <a:buNone/>
            </a:pPr>
            <a:endParaRPr lang="en-US" dirty="0"/>
          </a:p>
        </p:txBody>
      </p:sp>
      <p:sp>
        <p:nvSpPr>
          <p:cNvPr id="12" name="Text 9"/>
          <p:cNvSpPr/>
          <p:nvPr/>
        </p:nvSpPr>
        <p:spPr>
          <a:xfrm>
            <a:off x="635794" y="1546622"/>
            <a:ext cx="914288" cy="207169"/>
          </a:xfrm>
          <a:prstGeom prst="rect">
            <a:avLst/>
          </a:prstGeom>
          <a:noFill/>
          <a:ln/>
        </p:spPr>
        <p:txBody>
          <a:bodyPr wrap="none" lIns="0" tIns="0" rIns="0" bIns="0" rtlCol="0" anchor="ctr"/>
          <a:lstStyle/>
          <a:p>
            <a:pPr algn="ctr" indent="0" marL="0">
              <a:lnSpc>
                <a:spcPts val="1181"/>
              </a:lnSpc>
              <a:buNone/>
            </a:pPr>
            <a:r>
              <a:rPr lang="en-US" sz="800" dirty="0">
                <a:solidFill>
                  <a:srgbClr val="10B981"/>
                </a:solidFill>
                <a:latin typeface="Carlito" pitchFamily="34" charset="0"/>
                <a:ea typeface="Carlito" pitchFamily="34" charset="-122"/>
                <a:cs typeface="Carlito" pitchFamily="34" charset="-120"/>
              </a:rPr>
              <a:t>Free Forever</a:t>
            </a:r>
            <a:endParaRPr lang="en-US" sz="800" dirty="0"/>
          </a:p>
        </p:txBody>
      </p:sp>
      <p:sp>
        <p:nvSpPr>
          <p:cNvPr id="13" name="Text 10"/>
          <p:cNvSpPr/>
          <p:nvPr/>
        </p:nvSpPr>
        <p:spPr>
          <a:xfrm>
            <a:off x="635794" y="1868091"/>
            <a:ext cx="1764506" cy="254603"/>
          </a:xfrm>
          <a:prstGeom prst="rect">
            <a:avLst/>
          </a:prstGeom>
          <a:noFill/>
          <a:ln/>
        </p:spPr>
        <p:txBody>
          <a:bodyPr wrap="none" lIns="0" tIns="0" rIns="0" bIns="0" rtlCol="0" anchor="t"/>
          <a:lstStyle/>
          <a:p>
            <a:pPr algn="l" indent="0" marL="0">
              <a:lnSpc>
                <a:spcPts val="1856"/>
              </a:lnSpc>
              <a:buNone/>
            </a:pPr>
            <a:r>
              <a:rPr lang="en-US" sz="1238" b="1" dirty="0">
                <a:solidFill>
                  <a:srgbClr val="1E293B"/>
                </a:solidFill>
                <a:latin typeface="Carlito" pitchFamily="34" charset="0"/>
                <a:ea typeface="Carlito" pitchFamily="34" charset="-122"/>
                <a:cs typeface="Carlito" pitchFamily="34" charset="-120"/>
              </a:rPr>
              <a:t>Starter</a:t>
            </a:r>
            <a:endParaRPr lang="en-US" sz="1238" dirty="0"/>
          </a:p>
        </p:txBody>
      </p:sp>
      <p:sp>
        <p:nvSpPr>
          <p:cNvPr id="14" name="Text 11"/>
          <p:cNvSpPr/>
          <p:nvPr/>
        </p:nvSpPr>
        <p:spPr>
          <a:xfrm>
            <a:off x="635794" y="2160984"/>
            <a:ext cx="1593056" cy="370332"/>
          </a:xfrm>
          <a:prstGeom prst="rect">
            <a:avLst/>
          </a:prstGeom>
          <a:noFill/>
          <a:ln/>
        </p:spPr>
        <p:txBody>
          <a:bodyPr wrap="none" lIns="0" tIns="0" rIns="0" bIns="0" rtlCol="0" anchor="t"/>
          <a:lstStyle/>
          <a:p>
            <a:pPr algn="l" indent="0" marL="0">
              <a:lnSpc>
                <a:spcPts val="2700"/>
              </a:lnSpc>
              <a:buNone/>
            </a:pPr>
            <a:r>
              <a:rPr lang="en-US" sz="2700" b="1" dirty="0">
                <a:solidFill>
                  <a:srgbClr val="1E293B"/>
                </a:solidFill>
                <a:latin typeface="Courier New" pitchFamily="34" charset="0"/>
                <a:ea typeface="Courier New" pitchFamily="34" charset="-122"/>
                <a:cs typeface="Courier New" pitchFamily="34" charset="-120"/>
              </a:rPr>
              <a:t>Free</a:t>
            </a:r>
            <a:endParaRPr lang="en-US" sz="2700" dirty="0"/>
          </a:p>
        </p:txBody>
      </p:sp>
      <p:sp>
        <p:nvSpPr>
          <p:cNvPr id="15" name="Text 12"/>
          <p:cNvSpPr/>
          <p:nvPr/>
        </p:nvSpPr>
        <p:spPr>
          <a:xfrm>
            <a:off x="635794" y="2675334"/>
            <a:ext cx="1593056" cy="768096"/>
          </a:xfrm>
          <a:prstGeom prst="rect">
            <a:avLst/>
          </a:prstGeom>
          <a:noFill/>
          <a:ln/>
        </p:spPr>
        <p:txBody>
          <a:bodyPr wrap="square" lIns="0" tIns="0" rIns="0" bIns="0" rtlCol="0" anchor="t"/>
          <a:lstStyle/>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1 site</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50 pages</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100 suggestions/mo</a:t>
            </a:r>
            <a:endParaRPr lang="en-US" sz="900" dirty="0"/>
          </a:p>
        </p:txBody>
      </p:sp>
      <p:sp>
        <p:nvSpPr>
          <p:cNvPr id="16" name="Shape 13"/>
          <p:cNvSpPr/>
          <p:nvPr/>
        </p:nvSpPr>
        <p:spPr>
          <a:xfrm>
            <a:off x="2521065" y="1309557"/>
            <a:ext cx="2008751" cy="0"/>
          </a:xfrm>
          <a:prstGeom prst="line">
            <a:avLst/>
          </a:prstGeom>
          <a:noFill/>
          <a:ln w="28575">
            <a:solidFill>
              <a:srgbClr val="F97316"/>
            </a:solidFill>
            <a:prstDash val="solid"/>
          </a:ln>
        </p:spPr>
      </p:sp>
      <p:sp>
        <p:nvSpPr>
          <p:cNvPr id="17" name="Shape 14"/>
          <p:cNvSpPr/>
          <p:nvPr/>
        </p:nvSpPr>
        <p:spPr>
          <a:xfrm>
            <a:off x="4526244" y="1295269"/>
            <a:ext cx="0" cy="3524512"/>
          </a:xfrm>
          <a:prstGeom prst="line">
            <a:avLst/>
          </a:prstGeom>
          <a:noFill/>
          <a:ln w="7144">
            <a:solidFill>
              <a:srgbClr val="E2E8F0"/>
            </a:solidFill>
            <a:prstDash val="solid"/>
          </a:ln>
        </p:spPr>
      </p:sp>
      <p:sp>
        <p:nvSpPr>
          <p:cNvPr id="18" name="Shape 15"/>
          <p:cNvSpPr/>
          <p:nvPr/>
        </p:nvSpPr>
        <p:spPr>
          <a:xfrm>
            <a:off x="2521065" y="4816209"/>
            <a:ext cx="2008751" cy="0"/>
          </a:xfrm>
          <a:prstGeom prst="line">
            <a:avLst/>
          </a:prstGeom>
          <a:noFill/>
          <a:ln w="7144">
            <a:solidFill>
              <a:srgbClr val="E2E8F0"/>
            </a:solidFill>
            <a:prstDash val="solid"/>
          </a:ln>
        </p:spPr>
      </p:sp>
      <p:sp>
        <p:nvSpPr>
          <p:cNvPr id="19" name="Shape 16"/>
          <p:cNvSpPr/>
          <p:nvPr/>
        </p:nvSpPr>
        <p:spPr>
          <a:xfrm>
            <a:off x="2524637" y="1295269"/>
            <a:ext cx="0" cy="3524512"/>
          </a:xfrm>
          <a:prstGeom prst="line">
            <a:avLst/>
          </a:prstGeom>
          <a:noFill/>
          <a:ln w="7144">
            <a:solidFill>
              <a:srgbClr val="E2E8F0"/>
            </a:solidFill>
            <a:prstDash val="solid"/>
          </a:ln>
        </p:spPr>
      </p:sp>
      <p:sp>
        <p:nvSpPr>
          <p:cNvPr id="20" name="Text 17"/>
          <p:cNvSpPr/>
          <p:nvPr/>
        </p:nvSpPr>
        <p:spPr>
          <a:xfrm>
            <a:off x="4643438" y="1346597"/>
            <a:ext cx="1950244" cy="3421856"/>
          </a:xfrm>
          <a:prstGeom prst="roundRect">
            <a:avLst>
              <a:gd name="adj" fmla="val 7814"/>
            </a:avLst>
          </a:prstGeom>
          <a:solidFill>
            <a:srgbClr val="F8FAFC"/>
          </a:solidFill>
          <a:ln/>
        </p:spPr>
        <p:txBody>
          <a:bodyPr wrap="square" rtlCol="0" anchor="ctr"/>
          <a:lstStyle/>
          <a:p>
            <a:pPr indent="0" marL="0">
              <a:buNone/>
            </a:pPr>
            <a:endParaRPr lang="en-US" dirty="0"/>
          </a:p>
        </p:txBody>
      </p:sp>
      <p:sp>
        <p:nvSpPr>
          <p:cNvPr id="21" name="Shape 18"/>
          <p:cNvSpPr/>
          <p:nvPr/>
        </p:nvSpPr>
        <p:spPr>
          <a:xfrm>
            <a:off x="4643438" y="1360884"/>
            <a:ext cx="1950244" cy="0"/>
          </a:xfrm>
          <a:prstGeom prst="line">
            <a:avLst/>
          </a:prstGeom>
          <a:noFill/>
          <a:ln w="28575">
            <a:solidFill>
              <a:srgbClr val="0D9488"/>
            </a:solidFill>
            <a:prstDash val="solid"/>
          </a:ln>
        </p:spPr>
      </p:sp>
      <p:sp>
        <p:nvSpPr>
          <p:cNvPr id="22" name="Shape 19"/>
          <p:cNvSpPr/>
          <p:nvPr/>
        </p:nvSpPr>
        <p:spPr>
          <a:xfrm>
            <a:off x="6590109" y="1346597"/>
            <a:ext cx="0" cy="3421856"/>
          </a:xfrm>
          <a:prstGeom prst="line">
            <a:avLst/>
          </a:prstGeom>
          <a:noFill/>
          <a:ln w="7144">
            <a:solidFill>
              <a:srgbClr val="E2E8F0"/>
            </a:solidFill>
            <a:prstDash val="solid"/>
          </a:ln>
        </p:spPr>
      </p:sp>
      <p:sp>
        <p:nvSpPr>
          <p:cNvPr id="23" name="Shape 20"/>
          <p:cNvSpPr/>
          <p:nvPr/>
        </p:nvSpPr>
        <p:spPr>
          <a:xfrm>
            <a:off x="4643438" y="4764881"/>
            <a:ext cx="1950244" cy="0"/>
          </a:xfrm>
          <a:prstGeom prst="line">
            <a:avLst/>
          </a:prstGeom>
          <a:noFill/>
          <a:ln w="7144">
            <a:solidFill>
              <a:srgbClr val="E2E8F0"/>
            </a:solidFill>
            <a:prstDash val="solid"/>
          </a:ln>
        </p:spPr>
      </p:sp>
      <p:sp>
        <p:nvSpPr>
          <p:cNvPr id="24" name="Shape 21"/>
          <p:cNvSpPr/>
          <p:nvPr/>
        </p:nvSpPr>
        <p:spPr>
          <a:xfrm>
            <a:off x="4647009" y="1346597"/>
            <a:ext cx="0" cy="3421856"/>
          </a:xfrm>
          <a:prstGeom prst="line">
            <a:avLst/>
          </a:prstGeom>
          <a:noFill/>
          <a:ln w="7144">
            <a:solidFill>
              <a:srgbClr val="E2E8F0"/>
            </a:solidFill>
            <a:prstDash val="solid"/>
          </a:ln>
        </p:spPr>
      </p:sp>
      <p:sp>
        <p:nvSpPr>
          <p:cNvPr id="25" name="Text 22"/>
          <p:cNvSpPr/>
          <p:nvPr/>
        </p:nvSpPr>
        <p:spPr>
          <a:xfrm>
            <a:off x="4799171" y="1534192"/>
            <a:ext cx="844704" cy="232029"/>
          </a:xfrm>
          <a:prstGeom prst="roundRect">
            <a:avLst>
              <a:gd name="adj" fmla="val 41046798"/>
            </a:avLst>
          </a:prstGeom>
          <a:solidFill>
            <a:srgbClr val="F0FDFA"/>
          </a:solidFill>
          <a:ln/>
        </p:spPr>
        <p:txBody>
          <a:bodyPr wrap="square" rtlCol="0" anchor="ctr"/>
          <a:lstStyle/>
          <a:p>
            <a:pPr indent="0" marL="0">
              <a:buNone/>
            </a:pPr>
            <a:endParaRPr lang="en-US" dirty="0"/>
          </a:p>
        </p:txBody>
      </p:sp>
      <p:sp>
        <p:nvSpPr>
          <p:cNvPr id="26" name="Text 23"/>
          <p:cNvSpPr/>
          <p:nvPr/>
        </p:nvSpPr>
        <p:spPr>
          <a:xfrm>
            <a:off x="4822031" y="1546622"/>
            <a:ext cx="798984" cy="207169"/>
          </a:xfrm>
          <a:prstGeom prst="rect">
            <a:avLst/>
          </a:prstGeom>
          <a:noFill/>
          <a:ln/>
        </p:spPr>
        <p:txBody>
          <a:bodyPr wrap="none" lIns="0" tIns="0" rIns="0" bIns="0" rtlCol="0" anchor="ctr"/>
          <a:lstStyle/>
          <a:p>
            <a:pPr algn="ctr" indent="0" marL="0">
              <a:lnSpc>
                <a:spcPts val="1181"/>
              </a:lnSpc>
              <a:buNone/>
            </a:pPr>
            <a:r>
              <a:rPr lang="en-US" sz="800" dirty="0">
                <a:solidFill>
                  <a:srgbClr val="0D9488"/>
                </a:solidFill>
                <a:latin typeface="Carlito" pitchFamily="34" charset="0"/>
                <a:ea typeface="Carlito" pitchFamily="34" charset="-122"/>
                <a:cs typeface="Carlito" pitchFamily="34" charset="-120"/>
              </a:rPr>
              <a:t>Best Value</a:t>
            </a:r>
            <a:endParaRPr lang="en-US" sz="800" dirty="0"/>
          </a:p>
        </p:txBody>
      </p:sp>
      <p:sp>
        <p:nvSpPr>
          <p:cNvPr id="27" name="Text 24"/>
          <p:cNvSpPr/>
          <p:nvPr/>
        </p:nvSpPr>
        <p:spPr>
          <a:xfrm>
            <a:off x="4822031" y="1868091"/>
            <a:ext cx="1764506" cy="254603"/>
          </a:xfrm>
          <a:prstGeom prst="rect">
            <a:avLst/>
          </a:prstGeom>
          <a:noFill/>
          <a:ln/>
        </p:spPr>
        <p:txBody>
          <a:bodyPr wrap="none" lIns="0" tIns="0" rIns="0" bIns="0" rtlCol="0" anchor="t"/>
          <a:lstStyle/>
          <a:p>
            <a:pPr algn="l" indent="0" marL="0">
              <a:lnSpc>
                <a:spcPts val="1856"/>
              </a:lnSpc>
              <a:buNone/>
            </a:pPr>
            <a:r>
              <a:rPr lang="en-US" sz="1238" b="1" dirty="0">
                <a:solidFill>
                  <a:srgbClr val="1E293B"/>
                </a:solidFill>
                <a:latin typeface="Carlito" pitchFamily="34" charset="0"/>
                <a:ea typeface="Carlito" pitchFamily="34" charset="-122"/>
                <a:cs typeface="Carlito" pitchFamily="34" charset="-120"/>
              </a:rPr>
              <a:t>Business</a:t>
            </a:r>
            <a:endParaRPr lang="en-US" sz="1238" dirty="0"/>
          </a:p>
        </p:txBody>
      </p:sp>
      <p:sp>
        <p:nvSpPr>
          <p:cNvPr id="28" name="Text 25"/>
          <p:cNvSpPr/>
          <p:nvPr/>
        </p:nvSpPr>
        <p:spPr>
          <a:xfrm>
            <a:off x="4822031" y="2160984"/>
            <a:ext cx="1321237" cy="370332"/>
          </a:xfrm>
          <a:prstGeom prst="rect">
            <a:avLst/>
          </a:prstGeom>
          <a:noFill/>
          <a:ln/>
        </p:spPr>
        <p:txBody>
          <a:bodyPr wrap="none" lIns="0" tIns="0" rIns="0" bIns="0" rtlCol="0" anchor="t"/>
          <a:lstStyle/>
          <a:p>
            <a:pPr algn="l" indent="0" marL="0">
              <a:lnSpc>
                <a:spcPts val="2700"/>
              </a:lnSpc>
              <a:buNone/>
            </a:pPr>
            <a:r>
              <a:rPr lang="en-US" sz="2700" b="1" dirty="0">
                <a:solidFill>
                  <a:srgbClr val="0D9488"/>
                </a:solidFill>
                <a:latin typeface="Liberation Sans Narrow" pitchFamily="34" charset="0"/>
                <a:ea typeface="Liberation Sans Narrow" pitchFamily="34" charset="-122"/>
                <a:cs typeface="Liberation Sans Narrow" pitchFamily="34" charset="-120"/>
              </a:rPr>
              <a:t>$149</a:t>
            </a:r>
            <a:endParaRPr lang="en-US" sz="2700" dirty="0"/>
          </a:p>
        </p:txBody>
      </p:sp>
      <p:sp>
        <p:nvSpPr>
          <p:cNvPr id="29" name="Text 26"/>
          <p:cNvSpPr/>
          <p:nvPr/>
        </p:nvSpPr>
        <p:spPr>
          <a:xfrm>
            <a:off x="5676379" y="2332434"/>
            <a:ext cx="738708" cy="185166"/>
          </a:xfrm>
          <a:prstGeom prst="rect">
            <a:avLst/>
          </a:prstGeom>
          <a:noFill/>
          <a:ln/>
        </p:spPr>
        <p:txBody>
          <a:bodyPr wrap="none" lIns="0" tIns="0" rIns="0" bIns="0" rtlCol="0" anchor="t"/>
          <a:lstStyle/>
          <a:p>
            <a:pPr algn="l" indent="0" marL="0">
              <a:lnSpc>
                <a:spcPts val="1350"/>
              </a:lnSpc>
              <a:buNone/>
            </a:pPr>
            <a:r>
              <a:rPr lang="en-US" sz="900" dirty="0">
                <a:solidFill>
                  <a:srgbClr val="64748B"/>
                </a:solidFill>
                <a:latin typeface="Carlito" pitchFamily="34" charset="0"/>
                <a:ea typeface="Carlito" pitchFamily="34" charset="-122"/>
                <a:cs typeface="Carlito" pitchFamily="34" charset="-120"/>
              </a:rPr>
              <a:t>/month</a:t>
            </a:r>
            <a:endParaRPr lang="en-US" sz="900" dirty="0"/>
          </a:p>
        </p:txBody>
      </p:sp>
      <p:sp>
        <p:nvSpPr>
          <p:cNvPr id="30" name="Text 27"/>
          <p:cNvSpPr/>
          <p:nvPr/>
        </p:nvSpPr>
        <p:spPr>
          <a:xfrm>
            <a:off x="4822031" y="2675334"/>
            <a:ext cx="1593056" cy="1797939"/>
          </a:xfrm>
          <a:prstGeom prst="rect">
            <a:avLst/>
          </a:prstGeom>
          <a:noFill/>
          <a:ln/>
        </p:spPr>
        <p:txBody>
          <a:bodyPr wrap="square" lIns="0" tIns="0" rIns="0" bIns="0" rtlCol="0" anchor="t"/>
          <a:lstStyle/>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25 sites</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5,000 pages</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10,000 suggestions</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Bulk actions</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Analytics</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API access</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White-label</a:t>
            </a:r>
            <a:endParaRPr lang="en-US" sz="900" dirty="0"/>
          </a:p>
        </p:txBody>
      </p:sp>
      <p:sp>
        <p:nvSpPr>
          <p:cNvPr id="31" name="Text 28"/>
          <p:cNvSpPr/>
          <p:nvPr/>
        </p:nvSpPr>
        <p:spPr>
          <a:xfrm>
            <a:off x="6736556" y="1346597"/>
            <a:ext cx="1950244" cy="3421856"/>
          </a:xfrm>
          <a:prstGeom prst="roundRect">
            <a:avLst>
              <a:gd name="adj" fmla="val 7814"/>
            </a:avLst>
          </a:prstGeom>
          <a:solidFill>
            <a:srgbClr val="F8FAFC"/>
          </a:solidFill>
          <a:ln/>
        </p:spPr>
        <p:txBody>
          <a:bodyPr wrap="square" rtlCol="0" anchor="ctr"/>
          <a:lstStyle/>
          <a:p>
            <a:pPr indent="0" marL="0">
              <a:buNone/>
            </a:pPr>
            <a:endParaRPr lang="en-US" dirty="0"/>
          </a:p>
        </p:txBody>
      </p:sp>
      <p:sp>
        <p:nvSpPr>
          <p:cNvPr id="32" name="Shape 29"/>
          <p:cNvSpPr/>
          <p:nvPr/>
        </p:nvSpPr>
        <p:spPr>
          <a:xfrm>
            <a:off x="6736556" y="1360884"/>
            <a:ext cx="1950244" cy="0"/>
          </a:xfrm>
          <a:prstGeom prst="line">
            <a:avLst/>
          </a:prstGeom>
          <a:noFill/>
          <a:ln w="28575">
            <a:solidFill>
              <a:srgbClr val="1E293B"/>
            </a:solidFill>
            <a:prstDash val="solid"/>
          </a:ln>
        </p:spPr>
      </p:sp>
      <p:sp>
        <p:nvSpPr>
          <p:cNvPr id="33" name="Shape 30"/>
          <p:cNvSpPr/>
          <p:nvPr/>
        </p:nvSpPr>
        <p:spPr>
          <a:xfrm>
            <a:off x="8683228" y="1346597"/>
            <a:ext cx="0" cy="3421856"/>
          </a:xfrm>
          <a:prstGeom prst="line">
            <a:avLst/>
          </a:prstGeom>
          <a:noFill/>
          <a:ln w="7144">
            <a:solidFill>
              <a:srgbClr val="E2E8F0"/>
            </a:solidFill>
            <a:prstDash val="solid"/>
          </a:ln>
        </p:spPr>
      </p:sp>
      <p:sp>
        <p:nvSpPr>
          <p:cNvPr id="34" name="Shape 31"/>
          <p:cNvSpPr/>
          <p:nvPr/>
        </p:nvSpPr>
        <p:spPr>
          <a:xfrm>
            <a:off x="6736556" y="4764881"/>
            <a:ext cx="1950244" cy="0"/>
          </a:xfrm>
          <a:prstGeom prst="line">
            <a:avLst/>
          </a:prstGeom>
          <a:noFill/>
          <a:ln w="7144">
            <a:solidFill>
              <a:srgbClr val="E2E8F0"/>
            </a:solidFill>
            <a:prstDash val="solid"/>
          </a:ln>
        </p:spPr>
      </p:sp>
      <p:sp>
        <p:nvSpPr>
          <p:cNvPr id="35" name="Shape 32"/>
          <p:cNvSpPr/>
          <p:nvPr/>
        </p:nvSpPr>
        <p:spPr>
          <a:xfrm>
            <a:off x="6740128" y="1346597"/>
            <a:ext cx="0" cy="3421856"/>
          </a:xfrm>
          <a:prstGeom prst="line">
            <a:avLst/>
          </a:prstGeom>
          <a:noFill/>
          <a:ln w="7144">
            <a:solidFill>
              <a:srgbClr val="E2E8F0"/>
            </a:solidFill>
            <a:prstDash val="solid"/>
          </a:ln>
        </p:spPr>
      </p:sp>
      <p:sp>
        <p:nvSpPr>
          <p:cNvPr id="36" name="Text 33"/>
          <p:cNvSpPr/>
          <p:nvPr/>
        </p:nvSpPr>
        <p:spPr>
          <a:xfrm>
            <a:off x="6892290" y="1534192"/>
            <a:ext cx="832872" cy="232029"/>
          </a:xfrm>
          <a:prstGeom prst="roundRect">
            <a:avLst>
              <a:gd name="adj" fmla="val 41046798"/>
            </a:avLst>
          </a:prstGeom>
          <a:solidFill>
            <a:srgbClr val="F1F5F9"/>
          </a:solidFill>
          <a:ln/>
        </p:spPr>
        <p:txBody>
          <a:bodyPr wrap="square" rtlCol="0" anchor="ctr"/>
          <a:lstStyle/>
          <a:p>
            <a:pPr indent="0" marL="0">
              <a:buNone/>
            </a:pPr>
            <a:endParaRPr lang="en-US" dirty="0"/>
          </a:p>
        </p:txBody>
      </p:sp>
      <p:sp>
        <p:nvSpPr>
          <p:cNvPr id="37" name="Text 34"/>
          <p:cNvSpPr/>
          <p:nvPr/>
        </p:nvSpPr>
        <p:spPr>
          <a:xfrm>
            <a:off x="6915150" y="1546622"/>
            <a:ext cx="787152" cy="207169"/>
          </a:xfrm>
          <a:prstGeom prst="rect">
            <a:avLst/>
          </a:prstGeom>
          <a:noFill/>
          <a:ln/>
        </p:spPr>
        <p:txBody>
          <a:bodyPr wrap="none" lIns="0" tIns="0" rIns="0" bIns="0" rtlCol="0" anchor="ctr"/>
          <a:lstStyle/>
          <a:p>
            <a:pPr algn="ctr" indent="0" marL="0">
              <a:lnSpc>
                <a:spcPts val="1181"/>
              </a:lnSpc>
              <a:buNone/>
            </a:pPr>
            <a:r>
              <a:rPr lang="en-US" sz="800" dirty="0">
                <a:solidFill>
                  <a:srgbClr val="334155"/>
                </a:solidFill>
                <a:latin typeface="Carlito" pitchFamily="34" charset="0"/>
                <a:ea typeface="Carlito" pitchFamily="34" charset="-122"/>
                <a:cs typeface="Carlito" pitchFamily="34" charset="-120"/>
              </a:rPr>
              <a:t>Enterprise</a:t>
            </a:r>
            <a:endParaRPr lang="en-US" sz="800" dirty="0"/>
          </a:p>
        </p:txBody>
      </p:sp>
      <p:sp>
        <p:nvSpPr>
          <p:cNvPr id="38" name="Text 35"/>
          <p:cNvSpPr/>
          <p:nvPr/>
        </p:nvSpPr>
        <p:spPr>
          <a:xfrm>
            <a:off x="6915150" y="1868091"/>
            <a:ext cx="1764506" cy="254603"/>
          </a:xfrm>
          <a:prstGeom prst="rect">
            <a:avLst/>
          </a:prstGeom>
          <a:noFill/>
          <a:ln/>
        </p:spPr>
        <p:txBody>
          <a:bodyPr wrap="none" lIns="0" tIns="0" rIns="0" bIns="0" rtlCol="0" anchor="t"/>
          <a:lstStyle/>
          <a:p>
            <a:pPr algn="l" indent="0" marL="0">
              <a:lnSpc>
                <a:spcPts val="1856"/>
              </a:lnSpc>
              <a:buNone/>
            </a:pPr>
            <a:r>
              <a:rPr lang="en-US" sz="1238" b="1" dirty="0">
                <a:solidFill>
                  <a:srgbClr val="1E293B"/>
                </a:solidFill>
                <a:latin typeface="Carlito" pitchFamily="34" charset="0"/>
                <a:ea typeface="Carlito" pitchFamily="34" charset="-122"/>
                <a:cs typeface="Carlito" pitchFamily="34" charset="-120"/>
              </a:rPr>
              <a:t>Enterprise</a:t>
            </a:r>
            <a:endParaRPr lang="en-US" sz="1238" dirty="0"/>
          </a:p>
        </p:txBody>
      </p:sp>
      <p:sp>
        <p:nvSpPr>
          <p:cNvPr id="39" name="Text 36"/>
          <p:cNvSpPr/>
          <p:nvPr/>
        </p:nvSpPr>
        <p:spPr>
          <a:xfrm>
            <a:off x="6915150" y="2160984"/>
            <a:ext cx="1764506" cy="370332"/>
          </a:xfrm>
          <a:prstGeom prst="rect">
            <a:avLst/>
          </a:prstGeom>
          <a:noFill/>
          <a:ln/>
        </p:spPr>
        <p:txBody>
          <a:bodyPr wrap="none" lIns="0" tIns="0" rIns="0" bIns="0" rtlCol="0" anchor="t"/>
          <a:lstStyle/>
          <a:p>
            <a:pPr algn="l" indent="0" marL="0">
              <a:lnSpc>
                <a:spcPts val="2700"/>
              </a:lnSpc>
              <a:buNone/>
            </a:pPr>
            <a:r>
              <a:rPr lang="en-US" sz="2700" b="1" dirty="0">
                <a:solidFill>
                  <a:srgbClr val="1E293B"/>
                </a:solidFill>
                <a:latin typeface="Courier New" pitchFamily="34" charset="0"/>
                <a:ea typeface="Courier New" pitchFamily="34" charset="-122"/>
                <a:cs typeface="Courier New" pitchFamily="34" charset="-120"/>
              </a:rPr>
              <a:t>Custom</a:t>
            </a:r>
            <a:endParaRPr lang="en-US" sz="2700" dirty="0"/>
          </a:p>
        </p:txBody>
      </p:sp>
      <p:sp>
        <p:nvSpPr>
          <p:cNvPr id="40" name="Text 37"/>
          <p:cNvSpPr/>
          <p:nvPr/>
        </p:nvSpPr>
        <p:spPr>
          <a:xfrm>
            <a:off x="6915150" y="2675334"/>
            <a:ext cx="1672709" cy="185166"/>
          </a:xfrm>
          <a:prstGeom prst="rect">
            <a:avLst/>
          </a:prstGeom>
          <a:noFill/>
          <a:ln/>
        </p:spPr>
        <p:txBody>
          <a:bodyPr wrap="none" lIns="0" tIns="0" rIns="0" bIns="0" rtlCol="0" anchor="t"/>
          <a:lstStyle/>
          <a:p>
            <a:pPr algn="l" indent="0" marL="0">
              <a:lnSpc>
                <a:spcPts val="1350"/>
              </a:lnSpc>
              <a:buNone/>
            </a:pPr>
            <a:r>
              <a:rPr lang="en-US" sz="900" dirty="0">
                <a:solidFill>
                  <a:srgbClr val="64748B"/>
                </a:solidFill>
                <a:latin typeface="Carlito" pitchFamily="34" charset="0"/>
                <a:ea typeface="Carlito" pitchFamily="34" charset="-122"/>
                <a:cs typeface="Carlito" pitchFamily="34" charset="-120"/>
              </a:rPr>
              <a:t>Unlimited everything</a:t>
            </a:r>
            <a:endParaRPr lang="en-US" sz="900" dirty="0"/>
          </a:p>
        </p:txBody>
      </p:sp>
      <p:sp>
        <p:nvSpPr>
          <p:cNvPr id="41" name="Text 38"/>
          <p:cNvSpPr/>
          <p:nvPr/>
        </p:nvSpPr>
        <p:spPr>
          <a:xfrm>
            <a:off x="6915150" y="2961084"/>
            <a:ext cx="1593056" cy="1025557"/>
          </a:xfrm>
          <a:prstGeom prst="rect">
            <a:avLst/>
          </a:prstGeom>
          <a:noFill/>
          <a:ln/>
        </p:spPr>
        <p:txBody>
          <a:bodyPr wrap="square" lIns="0" tIns="0" rIns="0" bIns="0" rtlCol="0" anchor="t"/>
          <a:lstStyle/>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SOC 2</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SSO</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Plugin SDK</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Dedicated support</a:t>
            </a:r>
            <a:endParaRPr lang="en-US" sz="900" dirty="0"/>
          </a:p>
        </p:txBody>
      </p:sp>
      <p:sp>
        <p:nvSpPr>
          <p:cNvPr id="42" name="Text 39"/>
          <p:cNvSpPr/>
          <p:nvPr/>
        </p:nvSpPr>
        <p:spPr>
          <a:xfrm>
            <a:off x="2521065" y="1295269"/>
            <a:ext cx="2008751" cy="3524512"/>
          </a:xfrm>
          <a:prstGeom prst="roundRect">
            <a:avLst>
              <a:gd name="adj" fmla="val 7587"/>
            </a:avLst>
          </a:prstGeom>
          <a:solidFill>
            <a:srgbClr val="F8FAFC"/>
          </a:solidFill>
          <a:ln/>
          <a:effectLst>
            <a:outerShdw sx="100000" sy="100000" kx="0" ky="0" algn="bl" rotWithShape="0" blurRad="285750" dist="76200" dir="5400000">
              <a:srgbClr val="F97316">
                <a:alpha val="12000"/>
              </a:srgbClr>
            </a:outerShdw>
          </a:effectLst>
        </p:spPr>
        <p:txBody>
          <a:bodyPr wrap="square" rtlCol="0" anchor="ctr"/>
          <a:lstStyle/>
          <a:p>
            <a:pPr indent="0" marL="0">
              <a:buNone/>
            </a:pPr>
            <a:endParaRPr lang="en-US" dirty="0"/>
          </a:p>
        </p:txBody>
      </p:sp>
      <p:sp>
        <p:nvSpPr>
          <p:cNvPr id="43" name="Text 40"/>
          <p:cNvSpPr/>
          <p:nvPr/>
        </p:nvSpPr>
        <p:spPr>
          <a:xfrm>
            <a:off x="2682157" y="1488493"/>
            <a:ext cx="1020433" cy="238987"/>
          </a:xfrm>
          <a:prstGeom prst="roundRect">
            <a:avLst>
              <a:gd name="adj" fmla="val 39851739"/>
            </a:avLst>
          </a:prstGeom>
          <a:solidFill>
            <a:srgbClr val="FFF7ED"/>
          </a:solidFill>
          <a:ln/>
        </p:spPr>
        <p:txBody>
          <a:bodyPr wrap="square" rtlCol="0" anchor="ctr"/>
          <a:lstStyle/>
          <a:p>
            <a:pPr indent="0" marL="0">
              <a:buNone/>
            </a:pPr>
            <a:endParaRPr lang="en-US" dirty="0"/>
          </a:p>
        </p:txBody>
      </p:sp>
      <p:sp>
        <p:nvSpPr>
          <p:cNvPr id="44" name="Text 41"/>
          <p:cNvSpPr/>
          <p:nvPr/>
        </p:nvSpPr>
        <p:spPr>
          <a:xfrm>
            <a:off x="2705017" y="1501295"/>
            <a:ext cx="974713" cy="213384"/>
          </a:xfrm>
          <a:prstGeom prst="rect">
            <a:avLst/>
          </a:prstGeom>
          <a:noFill/>
          <a:ln/>
        </p:spPr>
        <p:txBody>
          <a:bodyPr wrap="none" lIns="0" tIns="0" rIns="0" bIns="0" rtlCol="0" anchor="ctr"/>
          <a:lstStyle/>
          <a:p>
            <a:pPr algn="ctr" indent="0" marL="0">
              <a:lnSpc>
                <a:spcPts val="1181"/>
              </a:lnSpc>
              <a:buNone/>
            </a:pPr>
            <a:r>
              <a:rPr lang="en-US" sz="800" dirty="0">
                <a:solidFill>
                  <a:srgbClr val="F97316"/>
                </a:solidFill>
                <a:latin typeface="Carlito" pitchFamily="34" charset="0"/>
                <a:ea typeface="Carlito" pitchFamily="34" charset="-122"/>
                <a:cs typeface="Carlito" pitchFamily="34" charset="-120"/>
              </a:rPr>
              <a:t>Most Popular</a:t>
            </a:r>
            <a:endParaRPr lang="en-US" sz="800" dirty="0"/>
          </a:p>
        </p:txBody>
      </p:sp>
      <p:sp>
        <p:nvSpPr>
          <p:cNvPr id="45" name="Text 42"/>
          <p:cNvSpPr/>
          <p:nvPr/>
        </p:nvSpPr>
        <p:spPr>
          <a:xfrm>
            <a:off x="2705017" y="1832408"/>
            <a:ext cx="1817656" cy="262241"/>
          </a:xfrm>
          <a:prstGeom prst="rect">
            <a:avLst/>
          </a:prstGeom>
          <a:noFill/>
          <a:ln/>
        </p:spPr>
        <p:txBody>
          <a:bodyPr wrap="none" lIns="0" tIns="0" rIns="0" bIns="0" rtlCol="0" anchor="t"/>
          <a:lstStyle/>
          <a:p>
            <a:pPr algn="l" indent="0" marL="0">
              <a:lnSpc>
                <a:spcPts val="1856"/>
              </a:lnSpc>
              <a:buNone/>
            </a:pPr>
            <a:r>
              <a:rPr lang="en-US" sz="1238" b="1" dirty="0">
                <a:solidFill>
                  <a:srgbClr val="1E293B"/>
                </a:solidFill>
                <a:latin typeface="Carlito" pitchFamily="34" charset="0"/>
                <a:ea typeface="Carlito" pitchFamily="34" charset="-122"/>
                <a:cs typeface="Carlito" pitchFamily="34" charset="-120"/>
              </a:rPr>
              <a:t>Pro</a:t>
            </a:r>
            <a:endParaRPr lang="en-US" sz="1238" dirty="0"/>
          </a:p>
        </p:txBody>
      </p:sp>
      <p:sp>
        <p:nvSpPr>
          <p:cNvPr id="46" name="Text 43"/>
          <p:cNvSpPr/>
          <p:nvPr/>
        </p:nvSpPr>
        <p:spPr>
          <a:xfrm>
            <a:off x="2705017" y="2134088"/>
            <a:ext cx="1020747" cy="381442"/>
          </a:xfrm>
          <a:prstGeom prst="rect">
            <a:avLst/>
          </a:prstGeom>
          <a:noFill/>
          <a:ln/>
        </p:spPr>
        <p:txBody>
          <a:bodyPr wrap="none" lIns="0" tIns="0" rIns="0" bIns="0" rtlCol="0" anchor="t"/>
          <a:lstStyle/>
          <a:p>
            <a:pPr algn="l" indent="0" marL="0">
              <a:lnSpc>
                <a:spcPts val="2700"/>
              </a:lnSpc>
              <a:buNone/>
            </a:pPr>
            <a:r>
              <a:rPr lang="en-US" sz="2700" b="1" dirty="0">
                <a:solidFill>
                  <a:srgbClr val="F97316"/>
                </a:solidFill>
                <a:latin typeface="Liberation Sans Narrow" pitchFamily="34" charset="0"/>
                <a:ea typeface="Liberation Sans Narrow" pitchFamily="34" charset="-122"/>
                <a:cs typeface="Liberation Sans Narrow" pitchFamily="34" charset="-120"/>
              </a:rPr>
              <a:t>$49</a:t>
            </a:r>
            <a:endParaRPr lang="en-US" sz="2700" dirty="0"/>
          </a:p>
        </p:txBody>
      </p:sp>
      <p:sp>
        <p:nvSpPr>
          <p:cNvPr id="47" name="Text 44"/>
          <p:cNvSpPr/>
          <p:nvPr/>
        </p:nvSpPr>
        <p:spPr>
          <a:xfrm>
            <a:off x="3372416" y="2310682"/>
            <a:ext cx="973448" cy="190721"/>
          </a:xfrm>
          <a:prstGeom prst="rect">
            <a:avLst/>
          </a:prstGeom>
          <a:noFill/>
          <a:ln/>
        </p:spPr>
        <p:txBody>
          <a:bodyPr wrap="none" lIns="0" tIns="0" rIns="0" bIns="0" rtlCol="0" anchor="t"/>
          <a:lstStyle/>
          <a:p>
            <a:pPr algn="l" indent="0" marL="0">
              <a:lnSpc>
                <a:spcPts val="1350"/>
              </a:lnSpc>
              <a:buNone/>
            </a:pPr>
            <a:r>
              <a:rPr lang="en-US" sz="900" dirty="0">
                <a:solidFill>
                  <a:srgbClr val="64748B"/>
                </a:solidFill>
                <a:latin typeface="Carlito" pitchFamily="34" charset="0"/>
                <a:ea typeface="Carlito" pitchFamily="34" charset="-122"/>
                <a:cs typeface="Carlito" pitchFamily="34" charset="-120"/>
              </a:rPr>
              <a:t>/month</a:t>
            </a:r>
            <a:endParaRPr lang="en-US" sz="900" dirty="0"/>
          </a:p>
        </p:txBody>
      </p:sp>
      <p:sp>
        <p:nvSpPr>
          <p:cNvPr id="48" name="Text 45"/>
          <p:cNvSpPr/>
          <p:nvPr/>
        </p:nvSpPr>
        <p:spPr>
          <a:xfrm>
            <a:off x="2705017" y="2663869"/>
            <a:ext cx="1640848" cy="1584549"/>
          </a:xfrm>
          <a:prstGeom prst="rect">
            <a:avLst/>
          </a:prstGeom>
          <a:noFill/>
          <a:ln/>
        </p:spPr>
        <p:txBody>
          <a:bodyPr wrap="square" lIns="0" tIns="0" rIns="0" bIns="0" rtlCol="0" anchor="t"/>
          <a:lstStyle/>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5 sites</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500 pages</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2,000 suggestions</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AI-powered suggestions</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Auto-apply</a:t>
            </a:r>
            <a:endParaRPr lang="en-US" sz="900" dirty="0"/>
          </a:p>
          <a:p>
            <a:pPr algn="l" marL="342900" indent="-342900">
              <a:lnSpc>
                <a:spcPts val="1350"/>
              </a:lnSpc>
              <a:spcAft>
                <a:spcPts val="563"/>
              </a:spcAft>
              <a:buSzPct val="100000"/>
              <a:buChar char="•"/>
            </a:pPr>
            <a:r>
              <a:rPr lang="en-US" sz="900" dirty="0">
                <a:solidFill>
                  <a:srgbClr val="64748B"/>
                </a:solidFill>
                <a:latin typeface="Carlito" pitchFamily="34" charset="0"/>
                <a:ea typeface="Carlito" pitchFamily="34" charset="-122"/>
                <a:cs typeface="Carlito" pitchFamily="34" charset="-120"/>
              </a:rPr>
              <a:t>✓ Priority support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786063" y="607219"/>
            <a:ext cx="3571875" cy="3571875"/>
          </a:xfrm>
          <a:prstGeom prst="rect">
            <a:avLst/>
          </a:prstGeom>
        </p:spPr>
      </p:pic>
      <p:sp>
        <p:nvSpPr>
          <p:cNvPr id="3" name="Text 0"/>
          <p:cNvSpPr/>
          <p:nvPr/>
        </p:nvSpPr>
        <p:spPr>
          <a:xfrm>
            <a:off x="2786063" y="607219"/>
            <a:ext cx="3571875" cy="3571875"/>
          </a:xfrm>
          <a:prstGeom prst="ellipse">
            <a:avLst/>
          </a:prstGeom>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274320" y="1392362"/>
            <a:ext cx="8595360" cy="425785"/>
          </a:xfrm>
          <a:prstGeom prst="rect">
            <a:avLst/>
          </a:prstGeom>
          <a:noFill/>
          <a:ln/>
        </p:spPr>
        <p:txBody>
          <a:bodyPr wrap="square" lIns="0" tIns="0" rIns="0" bIns="0" rtlCol="0" anchor="t"/>
          <a:lstStyle/>
          <a:p>
            <a:pPr algn="ctr" indent="0" marL="0">
              <a:lnSpc>
                <a:spcPts val="3105"/>
              </a:lnSpc>
              <a:buNone/>
            </a:pPr>
            <a:r>
              <a:rPr lang="en-US" sz="2700" b="1" spc="-81" kern="0" dirty="0">
                <a:solidFill>
                  <a:srgbClr val="F97316"/>
                </a:solidFill>
                <a:latin typeface="Carlito" pitchFamily="34" charset="0"/>
                <a:ea typeface="Carlito" pitchFamily="34" charset="-122"/>
                <a:cs typeface="Carlito" pitchFamily="34" charset="-120"/>
              </a:rPr>
              <a:t>Ready to Fix Your Internal Links?</a:t>
            </a:r>
            <a:endParaRPr lang="en-US" sz="2700" dirty="0"/>
          </a:p>
        </p:txBody>
      </p:sp>
      <p:sp>
        <p:nvSpPr>
          <p:cNvPr id="5" name="Text 2"/>
          <p:cNvSpPr/>
          <p:nvPr/>
        </p:nvSpPr>
        <p:spPr>
          <a:xfrm>
            <a:off x="2500313" y="1929482"/>
            <a:ext cx="4143375" cy="493776"/>
          </a:xfrm>
          <a:prstGeom prst="rect">
            <a:avLst/>
          </a:prstGeom>
          <a:noFill/>
          <a:ln/>
        </p:spPr>
        <p:txBody>
          <a:bodyPr wrap="square" lIns="0" tIns="0" rIns="0" bIns="0" rtlCol="0" anchor="t"/>
          <a:lstStyle/>
          <a:p>
            <a:pPr algn="ctr" indent="0" marL="0">
              <a:lnSpc>
                <a:spcPts val="1800"/>
              </a:lnSpc>
              <a:buNone/>
            </a:pPr>
            <a:r>
              <a:rPr lang="en-US" sz="1125" dirty="0">
                <a:solidFill>
                  <a:srgbClr val="64748B"/>
                </a:solidFill>
                <a:latin typeface="Carlito" pitchFamily="34" charset="0"/>
                <a:ea typeface="Carlito" pitchFamily="34" charset="-122"/>
                <a:cs typeface="Carlito" pitchFamily="34" charset="-120"/>
              </a:rPr>
              <a:t>Join thousands of SEO professionals using LinkForge to boost their rankings.</a:t>
            </a:r>
            <a:endParaRPr lang="en-US" sz="1125" dirty="0"/>
          </a:p>
        </p:txBody>
      </p:sp>
      <p:pic>
        <p:nvPicPr>
          <p:cNvPr id="6" name="Image 1" descr="preencoded.png">    </p:cNvPr>
          <p:cNvPicPr>
            <a:picLocks noChangeAspect="1"/>
          </p:cNvPicPr>
          <p:nvPr/>
        </p:nvPicPr>
        <p:blipFill>
          <a:blip r:embed="rId2"/>
          <a:stretch>
            <a:fillRect/>
          </a:stretch>
        </p:blipFill>
        <p:spPr>
          <a:xfrm>
            <a:off x="1117885" y="2729582"/>
            <a:ext cx="3704704" cy="450056"/>
          </a:xfrm>
          <a:prstGeom prst="rect">
            <a:avLst/>
          </a:prstGeom>
        </p:spPr>
      </p:pic>
      <p:sp>
        <p:nvSpPr>
          <p:cNvPr id="7" name="Text 3"/>
          <p:cNvSpPr/>
          <p:nvPr/>
        </p:nvSpPr>
        <p:spPr>
          <a:xfrm>
            <a:off x="1117885" y="2729582"/>
            <a:ext cx="3776142" cy="486061"/>
          </a:xfrm>
          <a:prstGeom prst="rect">
            <a:avLst/>
          </a:prstGeom>
          <a:noFill/>
          <a:ln/>
        </p:spPr>
        <p:txBody>
          <a:bodyPr wrap="none" lIns="257175" tIns="114300" rIns="257175" bIns="114300" rtlCol="0" anchor="t"/>
          <a:lstStyle/>
          <a:p>
            <a:pPr algn="l" indent="0" marL="0">
              <a:lnSpc>
                <a:spcPts val="1519"/>
              </a:lnSpc>
              <a:buNone/>
            </a:pPr>
            <a:r>
              <a:rPr lang="en-US" sz="1013" b="1" dirty="0">
                <a:solidFill>
                  <a:srgbClr val="FFFFFF"/>
                </a:solidFill>
                <a:latin typeface="Carlito" pitchFamily="34" charset="0"/>
                <a:ea typeface="Carlito" pitchFamily="34" charset="-122"/>
                <a:cs typeface="Carlito" pitchFamily="34" charset="-120"/>
              </a:rPr>
              <a:t>Get Started Free — No Credit Card Required</a:t>
            </a:r>
            <a:endParaRPr lang="en-US" sz="1013" dirty="0"/>
          </a:p>
        </p:txBody>
      </p:sp>
      <p:sp>
        <p:nvSpPr>
          <p:cNvPr id="8" name="Text 4"/>
          <p:cNvSpPr/>
          <p:nvPr/>
        </p:nvSpPr>
        <p:spPr>
          <a:xfrm>
            <a:off x="4972608" y="2736726"/>
            <a:ext cx="3046363" cy="435769"/>
          </a:xfrm>
          <a:prstGeom prst="roundRect">
            <a:avLst>
              <a:gd name="adj" fmla="val 21855725"/>
            </a:avLst>
          </a:prstGeom>
          <a:noFill/>
          <a:ln w="14288">
            <a:solidFill>
              <a:srgbClr val="F97316"/>
            </a:solidFill>
            <a:prstDash val="solid"/>
          </a:ln>
        </p:spPr>
        <p:txBody>
          <a:bodyPr wrap="square" rtlCol="0" anchor="ctr"/>
          <a:lstStyle/>
          <a:p>
            <a:pPr indent="0" marL="0">
              <a:buNone/>
            </a:pPr>
            <a:endParaRPr lang="en-US" dirty="0"/>
          </a:p>
        </p:txBody>
      </p:sp>
      <p:sp>
        <p:nvSpPr>
          <p:cNvPr id="9" name="Text 5"/>
          <p:cNvSpPr/>
          <p:nvPr/>
        </p:nvSpPr>
        <p:spPr>
          <a:xfrm>
            <a:off x="4965464" y="2729582"/>
            <a:ext cx="3060650" cy="486061"/>
          </a:xfrm>
          <a:prstGeom prst="rect">
            <a:avLst/>
          </a:prstGeom>
          <a:noFill/>
          <a:ln/>
        </p:spPr>
        <p:txBody>
          <a:bodyPr wrap="square" lIns="257175" tIns="114300" rIns="257175" bIns="114300" rtlCol="0" anchor="t"/>
          <a:lstStyle/>
          <a:p>
            <a:pPr algn="l" indent="0" marL="0">
              <a:lnSpc>
                <a:spcPts val="1519"/>
              </a:lnSpc>
              <a:buNone/>
            </a:pPr>
            <a:r>
              <a:rPr lang="en-US" sz="1013" b="1" dirty="0">
                <a:solidFill>
                  <a:srgbClr val="F97316"/>
                </a:solidFill>
                <a:latin typeface="Carlito" pitchFamily="34" charset="0"/>
                <a:ea typeface="Carlito" pitchFamily="34" charset="-122"/>
                <a:cs typeface="Carlito" pitchFamily="34" charset="-120"/>
              </a:rPr>
              <a:t>View Full Demo at linkforge.digital</a:t>
            </a:r>
            <a:endParaRPr lang="en-US" sz="1013" dirty="0"/>
          </a:p>
        </p:txBody>
      </p:sp>
      <p:sp>
        <p:nvSpPr>
          <p:cNvPr id="10" name="Text 6"/>
          <p:cNvSpPr/>
          <p:nvPr/>
        </p:nvSpPr>
        <p:spPr>
          <a:xfrm>
            <a:off x="2362126" y="3586832"/>
            <a:ext cx="157163" cy="157163"/>
          </a:xfrm>
          <a:prstGeom prst="rect">
            <a:avLst/>
          </a:prstGeom>
          <a:noFill/>
          <a:ln/>
        </p:spPr>
        <p:txBody>
          <a:bodyPr wrap="none" lIns="0" tIns="0" rIns="0" bIns="0" rtlCol="0" anchor="ctr"/>
          <a:lstStyle/>
          <a:p>
            <a:pPr algn="ctr" indent="0" marL="0">
              <a:buNone/>
            </a:pPr>
            <a:r>
              <a:rPr lang="en-US" sz="1547" dirty="0">
                <a:solidFill>
                  <a:srgbClr val="10B981"/>
                </a:solidFill>
                <a:latin typeface="Segoe UI Symbol" pitchFamily="34" charset="0"/>
                <a:ea typeface="Segoe UI Symbol" pitchFamily="34" charset="-122"/>
                <a:cs typeface="Segoe UI Symbol" pitchFamily="34" charset="-120"/>
              </a:rPr>
              <a:t>✓</a:t>
            </a:r>
            <a:endParaRPr lang="en-US" sz="1547" dirty="0"/>
          </a:p>
        </p:txBody>
      </p:sp>
      <p:sp>
        <p:nvSpPr>
          <p:cNvPr id="11" name="Text 7"/>
          <p:cNvSpPr/>
          <p:nvPr/>
        </p:nvSpPr>
        <p:spPr>
          <a:xfrm>
            <a:off x="2590726" y="3579688"/>
            <a:ext cx="1126490" cy="185166"/>
          </a:xfrm>
          <a:prstGeom prst="rect">
            <a:avLst/>
          </a:prstGeom>
          <a:noFill/>
          <a:ln/>
        </p:spPr>
        <p:txBody>
          <a:bodyPr wrap="none" lIns="0" tIns="0" rIns="0" bIns="0" rtlCol="0" anchor="t"/>
          <a:lstStyle/>
          <a:p>
            <a:pPr algn="l" indent="0" marL="0">
              <a:lnSpc>
                <a:spcPts val="1350"/>
              </a:lnSpc>
              <a:buNone/>
            </a:pPr>
            <a:r>
              <a:rPr lang="en-US" sz="900" dirty="0">
                <a:solidFill>
                  <a:srgbClr val="64748B"/>
                </a:solidFill>
                <a:latin typeface="Liberation Sans Narrow" pitchFamily="34" charset="0"/>
                <a:ea typeface="Liberation Sans Narrow" pitchFamily="34" charset="-122"/>
                <a:cs typeface="Liberation Sans Narrow" pitchFamily="34" charset="-120"/>
              </a:rPr>
              <a:t>14-Day Free Trial</a:t>
            </a:r>
            <a:endParaRPr lang="en-US" sz="900" dirty="0"/>
          </a:p>
        </p:txBody>
      </p:sp>
      <p:sp>
        <p:nvSpPr>
          <p:cNvPr id="12" name="Text 8"/>
          <p:cNvSpPr/>
          <p:nvPr/>
        </p:nvSpPr>
        <p:spPr>
          <a:xfrm>
            <a:off x="3894795" y="3586832"/>
            <a:ext cx="157163" cy="157163"/>
          </a:xfrm>
          <a:prstGeom prst="rect">
            <a:avLst/>
          </a:prstGeom>
          <a:noFill/>
          <a:ln/>
        </p:spPr>
        <p:txBody>
          <a:bodyPr wrap="none" lIns="0" tIns="0" rIns="0" bIns="0" rtlCol="0" anchor="ctr"/>
          <a:lstStyle/>
          <a:p>
            <a:pPr algn="ctr" indent="0" marL="0">
              <a:buNone/>
            </a:pPr>
            <a:r>
              <a:rPr lang="en-US" sz="1547" dirty="0">
                <a:solidFill>
                  <a:srgbClr val="0D9488"/>
                </a:solidFill>
                <a:latin typeface="Segoe UI Symbol" pitchFamily="34" charset="0"/>
                <a:ea typeface="Segoe UI Symbol" pitchFamily="34" charset="-122"/>
                <a:cs typeface="Segoe UI Symbol" pitchFamily="34" charset="-120"/>
              </a:rPr>
              <a:t>◯</a:t>
            </a:r>
            <a:endParaRPr lang="en-US" sz="1547" dirty="0"/>
          </a:p>
        </p:txBody>
      </p:sp>
      <p:sp>
        <p:nvSpPr>
          <p:cNvPr id="13" name="Text 9"/>
          <p:cNvSpPr/>
          <p:nvPr/>
        </p:nvSpPr>
        <p:spPr>
          <a:xfrm>
            <a:off x="4123395" y="3579688"/>
            <a:ext cx="1390877" cy="185166"/>
          </a:xfrm>
          <a:prstGeom prst="rect">
            <a:avLst/>
          </a:prstGeom>
          <a:noFill/>
          <a:ln/>
        </p:spPr>
        <p:txBody>
          <a:bodyPr wrap="none" lIns="0" tIns="0" rIns="0" bIns="0" rtlCol="0" anchor="t"/>
          <a:lstStyle/>
          <a:p>
            <a:pPr algn="l" indent="0" marL="0">
              <a:lnSpc>
                <a:spcPts val="1350"/>
              </a:lnSpc>
              <a:buNone/>
            </a:pPr>
            <a:r>
              <a:rPr lang="en-US" sz="900" dirty="0">
                <a:solidFill>
                  <a:srgbClr val="64748B"/>
                </a:solidFill>
                <a:latin typeface="Carlito" pitchFamily="34" charset="0"/>
                <a:ea typeface="Carlito" pitchFamily="34" charset="-122"/>
                <a:cs typeface="Carlito" pitchFamily="34" charset="-120"/>
              </a:rPr>
              <a:t>Works With Any CMS</a:t>
            </a:r>
            <a:endParaRPr lang="en-US" sz="900" dirty="0"/>
          </a:p>
        </p:txBody>
      </p:sp>
      <p:sp>
        <p:nvSpPr>
          <p:cNvPr id="14" name="Text 10"/>
          <p:cNvSpPr/>
          <p:nvPr/>
        </p:nvSpPr>
        <p:spPr>
          <a:xfrm>
            <a:off x="5653050" y="3586832"/>
            <a:ext cx="157163" cy="157163"/>
          </a:xfrm>
          <a:prstGeom prst="rect">
            <a:avLst/>
          </a:prstGeom>
          <a:noFill/>
          <a:ln/>
        </p:spPr>
        <p:txBody>
          <a:bodyPr wrap="none" lIns="0" tIns="0" rIns="0" bIns="0" rtlCol="0" anchor="ctr"/>
          <a:lstStyle/>
          <a:p>
            <a:pPr algn="ctr" indent="0" marL="0">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15" name="Text 11"/>
          <p:cNvSpPr/>
          <p:nvPr/>
        </p:nvSpPr>
        <p:spPr>
          <a:xfrm>
            <a:off x="5881650" y="3579688"/>
            <a:ext cx="1054932" cy="185166"/>
          </a:xfrm>
          <a:prstGeom prst="rect">
            <a:avLst/>
          </a:prstGeom>
          <a:noFill/>
          <a:ln/>
        </p:spPr>
        <p:txBody>
          <a:bodyPr wrap="none" lIns="0" tIns="0" rIns="0" bIns="0" rtlCol="0" anchor="t"/>
          <a:lstStyle/>
          <a:p>
            <a:pPr algn="l" indent="0" marL="0">
              <a:lnSpc>
                <a:spcPts val="1350"/>
              </a:lnSpc>
              <a:buNone/>
            </a:pPr>
            <a:r>
              <a:rPr lang="en-US" sz="900" dirty="0">
                <a:solidFill>
                  <a:srgbClr val="64748B"/>
                </a:solidFill>
                <a:latin typeface="Carlito" pitchFamily="34" charset="0"/>
                <a:ea typeface="Carlito" pitchFamily="34" charset="-122"/>
                <a:cs typeface="Carlito" pitchFamily="34" charset="-120"/>
              </a:rPr>
              <a:t>Cancel Anytime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2026-07-11T18:09:05Z</dcterms:created>
  <dcterms:modified xsi:type="dcterms:W3CDTF">2026-07-11T18:09:05Z</dcterms:modified>
</cp:coreProperties>
</file>